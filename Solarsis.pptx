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E40BF73-62A3-4374-9BED-C1CBB539731E}">
          <p14:sldIdLst>
            <p14:sldId id="256"/>
          </p14:sldIdLst>
        </p14:section>
        <p14:section name="Untitled Section" id="{45CFDCD9-75F4-40CA-BDD9-30739F004E3F}">
          <p14:sldIdLst>
            <p14:sldId id="257"/>
            <p14:sldId id="258"/>
            <p14:sldId id="259"/>
            <p14:sldId id="260"/>
            <p14:sldId id="268"/>
            <p14:sldId id="269"/>
            <p14:sldId id="262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50CBF3-F5DC-4D9D-819C-E0BE970B83FC}" v="365" dt="2026-05-17T16:12:50.1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arna Mallick" userId="f9cb8387eaf94e09" providerId="LiveId" clId="{D1BF3B4C-A20E-4D4D-ACCD-BA6DF7BA9200}"/>
    <pc:docChg chg="undo custSel addSld delSld modSld modSection">
      <pc:chgData name="Subarna Mallick" userId="f9cb8387eaf94e09" providerId="LiveId" clId="{D1BF3B4C-A20E-4D4D-ACCD-BA6DF7BA9200}" dt="2026-05-17T16:25:45.828" v="2689" actId="14100"/>
      <pc:docMkLst>
        <pc:docMk/>
      </pc:docMkLst>
      <pc:sldChg chg="delSp modSp add del mod">
        <pc:chgData name="Subarna Mallick" userId="f9cb8387eaf94e09" providerId="LiveId" clId="{D1BF3B4C-A20E-4D4D-ACCD-BA6DF7BA9200}" dt="2026-05-17T14:13:26.951" v="1768" actId="478"/>
        <pc:sldMkLst>
          <pc:docMk/>
          <pc:sldMk cId="578396604" sldId="256"/>
        </pc:sldMkLst>
        <pc:spChg chg="del mod">
          <ac:chgData name="Subarna Mallick" userId="f9cb8387eaf94e09" providerId="LiveId" clId="{D1BF3B4C-A20E-4D4D-ACCD-BA6DF7BA9200}" dt="2026-05-17T14:13:26.951" v="1768" actId="478"/>
          <ac:spMkLst>
            <pc:docMk/>
            <pc:sldMk cId="578396604" sldId="256"/>
            <ac:spMk id="3" creationId="{21FB6E9A-3428-90A4-3202-10D5AE8A387C}"/>
          </ac:spMkLst>
        </pc:spChg>
      </pc:sldChg>
      <pc:sldChg chg="addSp modSp mod">
        <pc:chgData name="Subarna Mallick" userId="f9cb8387eaf94e09" providerId="LiveId" clId="{D1BF3B4C-A20E-4D4D-ACCD-BA6DF7BA9200}" dt="2026-05-17T16:25:45.828" v="2689" actId="14100"/>
        <pc:sldMkLst>
          <pc:docMk/>
          <pc:sldMk cId="3169936480" sldId="257"/>
        </pc:sldMkLst>
        <pc:spChg chg="add mod">
          <ac:chgData name="Subarna Mallick" userId="f9cb8387eaf94e09" providerId="LiveId" clId="{D1BF3B4C-A20E-4D4D-ACCD-BA6DF7BA9200}" dt="2026-05-17T16:25:33.027" v="2687" actId="20577"/>
          <ac:spMkLst>
            <pc:docMk/>
            <pc:sldMk cId="3169936480" sldId="257"/>
            <ac:spMk id="3" creationId="{85829BDB-38BD-4235-42B9-1FB9E0789F69}"/>
          </ac:spMkLst>
        </pc:spChg>
        <pc:spChg chg="add mod">
          <ac:chgData name="Subarna Mallick" userId="f9cb8387eaf94e09" providerId="LiveId" clId="{D1BF3B4C-A20E-4D4D-ACCD-BA6DF7BA9200}" dt="2026-05-17T16:25:45.828" v="2689" actId="14100"/>
          <ac:spMkLst>
            <pc:docMk/>
            <pc:sldMk cId="3169936480" sldId="257"/>
            <ac:spMk id="5" creationId="{3AB0E7C6-46DA-135C-6434-4E18D782F157}"/>
          </ac:spMkLst>
        </pc:spChg>
        <pc:spChg chg="mod">
          <ac:chgData name="Subarna Mallick" userId="f9cb8387eaf94e09" providerId="LiveId" clId="{D1BF3B4C-A20E-4D4D-ACCD-BA6DF7BA9200}" dt="2026-05-17T16:03:00.839" v="1979" actId="20577"/>
          <ac:spMkLst>
            <pc:docMk/>
            <pc:sldMk cId="3169936480" sldId="257"/>
            <ac:spMk id="10" creationId="{D6856AA7-0B7F-789B-263A-64D0AB60D825}"/>
          </ac:spMkLst>
        </pc:spChg>
      </pc:sldChg>
      <pc:sldChg chg="addSp delSp modSp mod">
        <pc:chgData name="Subarna Mallick" userId="f9cb8387eaf94e09" providerId="LiveId" clId="{D1BF3B4C-A20E-4D4D-ACCD-BA6DF7BA9200}" dt="2026-05-17T16:00:48.957" v="1972" actId="20577"/>
        <pc:sldMkLst>
          <pc:docMk/>
          <pc:sldMk cId="1876639182" sldId="258"/>
        </pc:sldMkLst>
        <pc:spChg chg="mod">
          <ac:chgData name="Subarna Mallick" userId="f9cb8387eaf94e09" providerId="LiveId" clId="{D1BF3B4C-A20E-4D4D-ACCD-BA6DF7BA9200}" dt="2026-05-17T15:32:55.995" v="1855" actId="113"/>
          <ac:spMkLst>
            <pc:docMk/>
            <pc:sldMk cId="1876639182" sldId="258"/>
            <ac:spMk id="2" creationId="{DA1DCFDA-5B19-FD77-D05B-529FCDBEB5CD}"/>
          </ac:spMkLst>
        </pc:spChg>
        <pc:spChg chg="mod">
          <ac:chgData name="Subarna Mallick" userId="f9cb8387eaf94e09" providerId="LiveId" clId="{D1BF3B4C-A20E-4D4D-ACCD-BA6DF7BA9200}" dt="2026-05-17T16:00:48.957" v="1972" actId="20577"/>
          <ac:spMkLst>
            <pc:docMk/>
            <pc:sldMk cId="1876639182" sldId="258"/>
            <ac:spMk id="3" creationId="{2922FABE-E964-43B8-9F65-87EB37DBF639}"/>
          </ac:spMkLst>
        </pc:spChg>
        <pc:spChg chg="add mod">
          <ac:chgData name="Subarna Mallick" userId="f9cb8387eaf94e09" providerId="LiveId" clId="{D1BF3B4C-A20E-4D4D-ACCD-BA6DF7BA9200}" dt="2026-05-17T14:24:01.917" v="1833" actId="14100"/>
          <ac:spMkLst>
            <pc:docMk/>
            <pc:sldMk cId="1876639182" sldId="258"/>
            <ac:spMk id="4" creationId="{ACFAB785-A3E0-1A11-1151-310DD834D931}"/>
          </ac:spMkLst>
        </pc:spChg>
        <pc:spChg chg="add mod">
          <ac:chgData name="Subarna Mallick" userId="f9cb8387eaf94e09" providerId="LiveId" clId="{D1BF3B4C-A20E-4D4D-ACCD-BA6DF7BA9200}" dt="2026-05-17T15:58:45.532" v="1967" actId="1076"/>
          <ac:spMkLst>
            <pc:docMk/>
            <pc:sldMk cId="1876639182" sldId="258"/>
            <ac:spMk id="6" creationId="{B8E8AC25-6D4D-3E14-31C9-1851C24C4EFD}"/>
          </ac:spMkLst>
        </pc:spChg>
        <pc:spChg chg="add mod">
          <ac:chgData name="Subarna Mallick" userId="f9cb8387eaf94e09" providerId="LiveId" clId="{D1BF3B4C-A20E-4D4D-ACCD-BA6DF7BA9200}" dt="2026-05-17T14:24:56.944" v="1839" actId="17032"/>
          <ac:spMkLst>
            <pc:docMk/>
            <pc:sldMk cId="1876639182" sldId="258"/>
            <ac:spMk id="11" creationId="{DF156410-9795-A624-84FE-8789A26F5B7D}"/>
          </ac:spMkLst>
        </pc:spChg>
        <pc:spChg chg="add mod">
          <ac:chgData name="Subarna Mallick" userId="f9cb8387eaf94e09" providerId="LiveId" clId="{D1BF3B4C-A20E-4D4D-ACCD-BA6DF7BA9200}" dt="2026-05-17T15:32:46.656" v="1854" actId="14100"/>
          <ac:spMkLst>
            <pc:docMk/>
            <pc:sldMk cId="1876639182" sldId="258"/>
            <ac:spMk id="12" creationId="{5BE5F881-90D5-BE32-8565-32EFC9676A94}"/>
          </ac:spMkLst>
        </pc:spChg>
        <pc:picChg chg="del">
          <ac:chgData name="Subarna Mallick" userId="f9cb8387eaf94e09" providerId="LiveId" clId="{D1BF3B4C-A20E-4D4D-ACCD-BA6DF7BA9200}" dt="2026-05-17T15:58:35.953" v="1966" actId="478"/>
          <ac:picMkLst>
            <pc:docMk/>
            <pc:sldMk cId="1876639182" sldId="258"/>
            <ac:picMk id="20" creationId="{71A578FC-B6EE-9B25-5B7A-3B26C7EB2CBA}"/>
          </ac:picMkLst>
        </pc:picChg>
        <pc:cxnChg chg="add mod">
          <ac:chgData name="Subarna Mallick" userId="f9cb8387eaf94e09" providerId="LiveId" clId="{D1BF3B4C-A20E-4D4D-ACCD-BA6DF7BA9200}" dt="2026-05-17T14:24:42.845" v="1838" actId="1076"/>
          <ac:cxnSpMkLst>
            <pc:docMk/>
            <pc:sldMk cId="1876639182" sldId="258"/>
            <ac:cxnSpMk id="8" creationId="{38EF7E48-B9B1-4D40-9AB0-65BCA5380319}"/>
          </ac:cxnSpMkLst>
        </pc:cxnChg>
      </pc:sldChg>
      <pc:sldChg chg="addSp modSp new mod">
        <pc:chgData name="Subarna Mallick" userId="f9cb8387eaf94e09" providerId="LiveId" clId="{D1BF3B4C-A20E-4D4D-ACCD-BA6DF7BA9200}" dt="2026-05-17T15:33:40.562" v="1862" actId="113"/>
        <pc:sldMkLst>
          <pc:docMk/>
          <pc:sldMk cId="139737129" sldId="259"/>
        </pc:sldMkLst>
        <pc:spChg chg="mod">
          <ac:chgData name="Subarna Mallick" userId="f9cb8387eaf94e09" providerId="LiveId" clId="{D1BF3B4C-A20E-4D4D-ACCD-BA6DF7BA9200}" dt="2026-05-17T15:33:09.790" v="1857" actId="113"/>
          <ac:spMkLst>
            <pc:docMk/>
            <pc:sldMk cId="139737129" sldId="259"/>
            <ac:spMk id="2" creationId="{2C908AB4-F20C-D0A0-542D-C927BD386621}"/>
          </ac:spMkLst>
        </pc:spChg>
        <pc:spChg chg="mod">
          <ac:chgData name="Subarna Mallick" userId="f9cb8387eaf94e09" providerId="LiveId" clId="{D1BF3B4C-A20E-4D4D-ACCD-BA6DF7BA9200}" dt="2026-05-17T15:33:13.329" v="1858" actId="113"/>
          <ac:spMkLst>
            <pc:docMk/>
            <pc:sldMk cId="139737129" sldId="259"/>
            <ac:spMk id="3" creationId="{0FBE4B74-DB9D-9E6E-561C-8DA883C19BD9}"/>
          </ac:spMkLst>
        </pc:spChg>
        <pc:spChg chg="mod">
          <ac:chgData name="Subarna Mallick" userId="f9cb8387eaf94e09" providerId="LiveId" clId="{D1BF3B4C-A20E-4D4D-ACCD-BA6DF7BA9200}" dt="2026-05-17T15:33:22.019" v="1859" actId="113"/>
          <ac:spMkLst>
            <pc:docMk/>
            <pc:sldMk cId="139737129" sldId="259"/>
            <ac:spMk id="4" creationId="{740E3943-7B0E-9AB4-1A9B-3CA88701016C}"/>
          </ac:spMkLst>
        </pc:spChg>
        <pc:spChg chg="mod">
          <ac:chgData name="Subarna Mallick" userId="f9cb8387eaf94e09" providerId="LiveId" clId="{D1BF3B4C-A20E-4D4D-ACCD-BA6DF7BA9200}" dt="2026-05-17T15:33:29.997" v="1860" actId="113"/>
          <ac:spMkLst>
            <pc:docMk/>
            <pc:sldMk cId="139737129" sldId="259"/>
            <ac:spMk id="5" creationId="{2DFFEF45-1C37-8BA2-7BBF-A65D049878FF}"/>
          </ac:spMkLst>
        </pc:spChg>
        <pc:spChg chg="add mod">
          <ac:chgData name="Subarna Mallick" userId="f9cb8387eaf94e09" providerId="LiveId" clId="{D1BF3B4C-A20E-4D4D-ACCD-BA6DF7BA9200}" dt="2026-05-17T15:33:36.567" v="1861" actId="113"/>
          <ac:spMkLst>
            <pc:docMk/>
            <pc:sldMk cId="139737129" sldId="259"/>
            <ac:spMk id="6" creationId="{A927DB82-7FBB-B390-2F59-03B18F20F50B}"/>
          </ac:spMkLst>
        </pc:spChg>
        <pc:spChg chg="mod">
          <ac:chgData name="Subarna Mallick" userId="f9cb8387eaf94e09" providerId="LiveId" clId="{D1BF3B4C-A20E-4D4D-ACCD-BA6DF7BA9200}" dt="2026-05-17T15:33:40.562" v="1862" actId="113"/>
          <ac:spMkLst>
            <pc:docMk/>
            <pc:sldMk cId="139737129" sldId="259"/>
            <ac:spMk id="7" creationId="{209E3E69-1D95-D303-13AF-A70910E894EE}"/>
          </ac:spMkLst>
        </pc:spChg>
      </pc:sldChg>
      <pc:sldChg chg="addSp delSp modSp mod">
        <pc:chgData name="Subarna Mallick" userId="f9cb8387eaf94e09" providerId="LiveId" clId="{D1BF3B4C-A20E-4D4D-ACCD-BA6DF7BA9200}" dt="2026-05-17T15:55:54.334" v="1965" actId="20577"/>
        <pc:sldMkLst>
          <pc:docMk/>
          <pc:sldMk cId="1022614479" sldId="260"/>
        </pc:sldMkLst>
        <pc:spChg chg="mod">
          <ac:chgData name="Subarna Mallick" userId="f9cb8387eaf94e09" providerId="LiveId" clId="{D1BF3B4C-A20E-4D4D-ACCD-BA6DF7BA9200}" dt="2026-05-17T15:33:48.079" v="1863" actId="113"/>
          <ac:spMkLst>
            <pc:docMk/>
            <pc:sldMk cId="1022614479" sldId="260"/>
            <ac:spMk id="2" creationId="{84D2B6E8-D723-B5E5-7391-EEB94E9AE437}"/>
          </ac:spMkLst>
        </pc:spChg>
        <pc:spChg chg="mod">
          <ac:chgData name="Subarna Mallick" userId="f9cb8387eaf94e09" providerId="LiveId" clId="{D1BF3B4C-A20E-4D4D-ACCD-BA6DF7BA9200}" dt="2026-05-17T15:55:54.334" v="1965" actId="20577"/>
          <ac:spMkLst>
            <pc:docMk/>
            <pc:sldMk cId="1022614479" sldId="260"/>
            <ac:spMk id="3" creationId="{6974584A-9723-093D-E30A-DB0A7800EA84}"/>
          </ac:spMkLst>
        </pc:spChg>
        <pc:spChg chg="mod">
          <ac:chgData name="Subarna Mallick" userId="f9cb8387eaf94e09" providerId="LiveId" clId="{D1BF3B4C-A20E-4D4D-ACCD-BA6DF7BA9200}" dt="2026-05-17T15:33:57.634" v="1866" actId="113"/>
          <ac:spMkLst>
            <pc:docMk/>
            <pc:sldMk cId="1022614479" sldId="260"/>
            <ac:spMk id="4" creationId="{9C930463-603F-C2E0-050D-DDEFC81720C6}"/>
          </ac:spMkLst>
        </pc:spChg>
        <pc:spChg chg="mod">
          <ac:chgData name="Subarna Mallick" userId="f9cb8387eaf94e09" providerId="LiveId" clId="{D1BF3B4C-A20E-4D4D-ACCD-BA6DF7BA9200}" dt="2026-05-17T15:33:54.119" v="1865" actId="113"/>
          <ac:spMkLst>
            <pc:docMk/>
            <pc:sldMk cId="1022614479" sldId="260"/>
            <ac:spMk id="5" creationId="{8D449695-1696-9FEA-FB5A-20538386C1D4}"/>
          </ac:spMkLst>
        </pc:spChg>
        <pc:spChg chg="add del mod">
          <ac:chgData name="Subarna Mallick" userId="f9cb8387eaf94e09" providerId="LiveId" clId="{D1BF3B4C-A20E-4D4D-ACCD-BA6DF7BA9200}" dt="2026-05-17T15:44:25.963" v="1958" actId="478"/>
          <ac:spMkLst>
            <pc:docMk/>
            <pc:sldMk cId="1022614479" sldId="260"/>
            <ac:spMk id="6" creationId="{4C96C2C4-007E-5EDF-F9B0-7D2FA696BE74}"/>
          </ac:spMkLst>
        </pc:spChg>
      </pc:sldChg>
      <pc:sldChg chg="modSp">
        <pc:chgData name="Subarna Mallick" userId="f9cb8387eaf94e09" providerId="LiveId" clId="{D1BF3B4C-A20E-4D4D-ACCD-BA6DF7BA9200}" dt="2026-05-17T15:39:06.557" v="1878"/>
        <pc:sldMkLst>
          <pc:docMk/>
          <pc:sldMk cId="3974920691" sldId="262"/>
        </pc:sldMkLst>
        <pc:graphicFrameChg chg="mod">
          <ac:chgData name="Subarna Mallick" userId="f9cb8387eaf94e09" providerId="LiveId" clId="{D1BF3B4C-A20E-4D4D-ACCD-BA6DF7BA9200}" dt="2026-05-17T15:39:06.557" v="1878"/>
          <ac:graphicFrameMkLst>
            <pc:docMk/>
            <pc:sldMk cId="3974920691" sldId="262"/>
            <ac:graphicFrameMk id="4" creationId="{B61AE276-4F9A-C092-8939-FAD2FC5E18EF}"/>
          </ac:graphicFrameMkLst>
        </pc:graphicFrameChg>
      </pc:sldChg>
      <pc:sldChg chg="del">
        <pc:chgData name="Subarna Mallick" userId="f9cb8387eaf94e09" providerId="LiveId" clId="{D1BF3B4C-A20E-4D4D-ACCD-BA6DF7BA9200}" dt="2026-05-17T14:00:44.719" v="1683" actId="2696"/>
        <pc:sldMkLst>
          <pc:docMk/>
          <pc:sldMk cId="1476513878" sldId="263"/>
        </pc:sldMkLst>
      </pc:sldChg>
      <pc:sldChg chg="modSp mod">
        <pc:chgData name="Subarna Mallick" userId="f9cb8387eaf94e09" providerId="LiveId" clId="{D1BF3B4C-A20E-4D4D-ACCD-BA6DF7BA9200}" dt="2026-05-17T15:40:32.423" v="1883" actId="20577"/>
        <pc:sldMkLst>
          <pc:docMk/>
          <pc:sldMk cId="866723428" sldId="264"/>
        </pc:sldMkLst>
        <pc:spChg chg="mod">
          <ac:chgData name="Subarna Mallick" userId="f9cb8387eaf94e09" providerId="LiveId" clId="{D1BF3B4C-A20E-4D4D-ACCD-BA6DF7BA9200}" dt="2026-05-17T15:40:32.423" v="1883" actId="20577"/>
          <ac:spMkLst>
            <pc:docMk/>
            <pc:sldMk cId="866723428" sldId="264"/>
            <ac:spMk id="4" creationId="{CCA941DD-D11E-62B7-1FDD-CEB47E6BD894}"/>
          </ac:spMkLst>
        </pc:spChg>
      </pc:sldChg>
      <pc:sldChg chg="addSp delSp modSp new mod">
        <pc:chgData name="Subarna Mallick" userId="f9cb8387eaf94e09" providerId="LiveId" clId="{D1BF3B4C-A20E-4D4D-ACCD-BA6DF7BA9200}" dt="2026-05-17T15:41:33.966" v="1892" actId="113"/>
        <pc:sldMkLst>
          <pc:docMk/>
          <pc:sldMk cId="1617007832" sldId="265"/>
        </pc:sldMkLst>
        <pc:spChg chg="add mod">
          <ac:chgData name="Subarna Mallick" userId="f9cb8387eaf94e09" providerId="LiveId" clId="{D1BF3B4C-A20E-4D4D-ACCD-BA6DF7BA9200}" dt="2026-05-17T14:02:04.772" v="1690" actId="14100"/>
          <ac:spMkLst>
            <pc:docMk/>
            <pc:sldMk cId="1617007832" sldId="265"/>
            <ac:spMk id="2" creationId="{E480D6CF-F9CB-9204-C22D-34EA3F5E2DD0}"/>
          </ac:spMkLst>
        </pc:spChg>
        <pc:spChg chg="add mod">
          <ac:chgData name="Subarna Mallick" userId="f9cb8387eaf94e09" providerId="LiveId" clId="{D1BF3B4C-A20E-4D4D-ACCD-BA6DF7BA9200}" dt="2026-05-17T14:09:42.572" v="1733" actId="255"/>
          <ac:spMkLst>
            <pc:docMk/>
            <pc:sldMk cId="1617007832" sldId="265"/>
            <ac:spMk id="3" creationId="{832372CB-461E-0B77-2441-AFA18C4D2325}"/>
          </ac:spMkLst>
        </pc:spChg>
        <pc:spChg chg="add mod">
          <ac:chgData name="Subarna Mallick" userId="f9cb8387eaf94e09" providerId="LiveId" clId="{D1BF3B4C-A20E-4D4D-ACCD-BA6DF7BA9200}" dt="2026-05-17T15:40:54.234" v="1886" actId="20577"/>
          <ac:spMkLst>
            <pc:docMk/>
            <pc:sldMk cId="1617007832" sldId="265"/>
            <ac:spMk id="4" creationId="{1E4268A6-C583-8A86-69B6-7A1A2BB273BB}"/>
          </ac:spMkLst>
        </pc:spChg>
        <pc:spChg chg="add del mod">
          <ac:chgData name="Subarna Mallick" userId="f9cb8387eaf94e09" providerId="LiveId" clId="{D1BF3B4C-A20E-4D4D-ACCD-BA6DF7BA9200}" dt="2026-05-17T14:05:14.408" v="1700" actId="21"/>
          <ac:spMkLst>
            <pc:docMk/>
            <pc:sldMk cId="1617007832" sldId="265"/>
            <ac:spMk id="5" creationId="{744AB9C5-53DF-4D67-0012-0FC5BBD25C95}"/>
          </ac:spMkLst>
        </pc:spChg>
        <pc:spChg chg="add mod">
          <ac:chgData name="Subarna Mallick" userId="f9cb8387eaf94e09" providerId="LiveId" clId="{D1BF3B4C-A20E-4D4D-ACCD-BA6DF7BA9200}" dt="2026-05-17T15:41:00.519" v="1887" actId="1076"/>
          <ac:spMkLst>
            <pc:docMk/>
            <pc:sldMk cId="1617007832" sldId="265"/>
            <ac:spMk id="6" creationId="{DAE09179-DA34-1C6C-F099-4B014139D5F8}"/>
          </ac:spMkLst>
        </pc:spChg>
        <pc:spChg chg="add del mod">
          <ac:chgData name="Subarna Mallick" userId="f9cb8387eaf94e09" providerId="LiveId" clId="{D1BF3B4C-A20E-4D4D-ACCD-BA6DF7BA9200}" dt="2026-05-17T15:41:33.966" v="1892" actId="113"/>
          <ac:spMkLst>
            <pc:docMk/>
            <pc:sldMk cId="1617007832" sldId="265"/>
            <ac:spMk id="7" creationId="{959AEB22-6341-B094-06CE-6B9A6CB8A025}"/>
          </ac:spMkLst>
        </pc:spChg>
        <pc:spChg chg="add mod">
          <ac:chgData name="Subarna Mallick" userId="f9cb8387eaf94e09" providerId="LiveId" clId="{D1BF3B4C-A20E-4D4D-ACCD-BA6DF7BA9200}" dt="2026-05-17T14:11:46.854" v="1748" actId="17032"/>
          <ac:spMkLst>
            <pc:docMk/>
            <pc:sldMk cId="1617007832" sldId="265"/>
            <ac:spMk id="8" creationId="{AA9F4CFA-EE7A-2C73-A6FF-2A3B6A174581}"/>
          </ac:spMkLst>
        </pc:spChg>
        <pc:spChg chg="add del mod">
          <ac:chgData name="Subarna Mallick" userId="f9cb8387eaf94e09" providerId="LiveId" clId="{D1BF3B4C-A20E-4D4D-ACCD-BA6DF7BA9200}" dt="2026-05-17T14:10:22.182" v="1740" actId="11529"/>
          <ac:spMkLst>
            <pc:docMk/>
            <pc:sldMk cId="1617007832" sldId="265"/>
            <ac:spMk id="9" creationId="{C1CF91BA-B238-DF20-A335-E06DB4A1DFEB}"/>
          </ac:spMkLst>
        </pc:spChg>
        <pc:spChg chg="add mod">
          <ac:chgData name="Subarna Mallick" userId="f9cb8387eaf94e09" providerId="LiveId" clId="{D1BF3B4C-A20E-4D4D-ACCD-BA6DF7BA9200}" dt="2026-05-17T14:11:04.068" v="1744" actId="3062"/>
          <ac:spMkLst>
            <pc:docMk/>
            <pc:sldMk cId="1617007832" sldId="265"/>
            <ac:spMk id="10" creationId="{59BBAC47-C570-1577-C4A3-192DDF8D2B18}"/>
          </ac:spMkLst>
        </pc:spChg>
      </pc:sldChg>
      <pc:sldChg chg="addSp modSp new mod">
        <pc:chgData name="Subarna Mallick" userId="f9cb8387eaf94e09" providerId="LiveId" clId="{D1BF3B4C-A20E-4D4D-ACCD-BA6DF7BA9200}" dt="2026-05-17T14:16:07.522" v="1786" actId="17032"/>
        <pc:sldMkLst>
          <pc:docMk/>
          <pc:sldMk cId="4030432131" sldId="266"/>
        </pc:sldMkLst>
        <pc:spChg chg="add mod">
          <ac:chgData name="Subarna Mallick" userId="f9cb8387eaf94e09" providerId="LiveId" clId="{D1BF3B4C-A20E-4D4D-ACCD-BA6DF7BA9200}" dt="2026-05-17T14:14:44.933" v="1776" actId="255"/>
          <ac:spMkLst>
            <pc:docMk/>
            <pc:sldMk cId="4030432131" sldId="266"/>
            <ac:spMk id="2" creationId="{3367E70F-F260-6717-E501-1D6E1E349CAB}"/>
          </ac:spMkLst>
        </pc:spChg>
        <pc:spChg chg="add mod">
          <ac:chgData name="Subarna Mallick" userId="f9cb8387eaf94e09" providerId="LiveId" clId="{D1BF3B4C-A20E-4D4D-ACCD-BA6DF7BA9200}" dt="2026-05-17T14:14:36.793" v="1775" actId="1076"/>
          <ac:spMkLst>
            <pc:docMk/>
            <pc:sldMk cId="4030432131" sldId="266"/>
            <ac:spMk id="3" creationId="{3463CEE0-7752-DE54-B553-6361474FE536}"/>
          </ac:spMkLst>
        </pc:spChg>
        <pc:spChg chg="add mod">
          <ac:chgData name="Subarna Mallick" userId="f9cb8387eaf94e09" providerId="LiveId" clId="{D1BF3B4C-A20E-4D4D-ACCD-BA6DF7BA9200}" dt="2026-05-17T14:15:44.004" v="1784" actId="207"/>
          <ac:spMkLst>
            <pc:docMk/>
            <pc:sldMk cId="4030432131" sldId="266"/>
            <ac:spMk id="4" creationId="{B0F86056-2A4E-09C9-D807-4417AFD7F64C}"/>
          </ac:spMkLst>
        </pc:spChg>
        <pc:spChg chg="add mod">
          <ac:chgData name="Subarna Mallick" userId="f9cb8387eaf94e09" providerId="LiveId" clId="{D1BF3B4C-A20E-4D4D-ACCD-BA6DF7BA9200}" dt="2026-05-17T14:16:07.522" v="1786" actId="17032"/>
          <ac:spMkLst>
            <pc:docMk/>
            <pc:sldMk cId="4030432131" sldId="266"/>
            <ac:spMk id="5" creationId="{BC3E3865-29BB-C8D4-96C9-883A61C003F5}"/>
          </ac:spMkLst>
        </pc:spChg>
      </pc:sldChg>
      <pc:sldChg chg="addSp modSp new mod">
        <pc:chgData name="Subarna Mallick" userId="f9cb8387eaf94e09" providerId="LiveId" clId="{D1BF3B4C-A20E-4D4D-ACCD-BA6DF7BA9200}" dt="2026-05-17T14:19:21.389" v="1802" actId="255"/>
        <pc:sldMkLst>
          <pc:docMk/>
          <pc:sldMk cId="1776292425" sldId="267"/>
        </pc:sldMkLst>
        <pc:spChg chg="add mod">
          <ac:chgData name="Subarna Mallick" userId="f9cb8387eaf94e09" providerId="LiveId" clId="{D1BF3B4C-A20E-4D4D-ACCD-BA6DF7BA9200}" dt="2026-05-17T14:17:54.772" v="1794" actId="14100"/>
          <ac:spMkLst>
            <pc:docMk/>
            <pc:sldMk cId="1776292425" sldId="267"/>
            <ac:spMk id="2" creationId="{D42A8CD9-D69E-C4EA-D6B5-50EEFD2E8D82}"/>
          </ac:spMkLst>
        </pc:spChg>
        <pc:spChg chg="add mod">
          <ac:chgData name="Subarna Mallick" userId="f9cb8387eaf94e09" providerId="LiveId" clId="{D1BF3B4C-A20E-4D4D-ACCD-BA6DF7BA9200}" dt="2026-05-17T14:18:38.123" v="1798" actId="1076"/>
          <ac:spMkLst>
            <pc:docMk/>
            <pc:sldMk cId="1776292425" sldId="267"/>
            <ac:spMk id="3" creationId="{E9D06B3E-F263-F383-8D8A-7FFC14CBEBEC}"/>
          </ac:spMkLst>
        </pc:spChg>
        <pc:spChg chg="add mod">
          <ac:chgData name="Subarna Mallick" userId="f9cb8387eaf94e09" providerId="LiveId" clId="{D1BF3B4C-A20E-4D4D-ACCD-BA6DF7BA9200}" dt="2026-05-17T14:19:21.389" v="1802" actId="255"/>
          <ac:spMkLst>
            <pc:docMk/>
            <pc:sldMk cId="1776292425" sldId="267"/>
            <ac:spMk id="4" creationId="{8211AF40-9553-B590-97BC-EEF38761F6A6}"/>
          </ac:spMkLst>
        </pc:spChg>
      </pc:sldChg>
      <pc:sldChg chg="addSp modSp new mod">
        <pc:chgData name="Subarna Mallick" userId="f9cb8387eaf94e09" providerId="LiveId" clId="{D1BF3B4C-A20E-4D4D-ACCD-BA6DF7BA9200}" dt="2026-05-17T15:35:27.286" v="1876" actId="20577"/>
        <pc:sldMkLst>
          <pc:docMk/>
          <pc:sldMk cId="739817873" sldId="268"/>
        </pc:sldMkLst>
        <pc:spChg chg="add mod">
          <ac:chgData name="Subarna Mallick" userId="f9cb8387eaf94e09" providerId="LiveId" clId="{D1BF3B4C-A20E-4D4D-ACCD-BA6DF7BA9200}" dt="2026-05-17T15:35:27.286" v="1876" actId="20577"/>
          <ac:spMkLst>
            <pc:docMk/>
            <pc:sldMk cId="739817873" sldId="268"/>
            <ac:spMk id="2" creationId="{D27BD39C-3703-1C04-B1E7-B6F960659B91}"/>
          </ac:spMkLst>
        </pc:spChg>
      </pc:sldChg>
      <pc:sldChg chg="addSp modSp new mod">
        <pc:chgData name="Subarna Mallick" userId="f9cb8387eaf94e09" providerId="LiveId" clId="{D1BF3B4C-A20E-4D4D-ACCD-BA6DF7BA9200}" dt="2026-05-17T16:18:57.658" v="2663" actId="20577"/>
        <pc:sldMkLst>
          <pc:docMk/>
          <pc:sldMk cId="461596503" sldId="269"/>
        </pc:sldMkLst>
        <pc:spChg chg="add mod">
          <ac:chgData name="Subarna Mallick" userId="f9cb8387eaf94e09" providerId="LiveId" clId="{D1BF3B4C-A20E-4D4D-ACCD-BA6DF7BA9200}" dt="2026-05-17T16:18:57.658" v="2663" actId="20577"/>
          <ac:spMkLst>
            <pc:docMk/>
            <pc:sldMk cId="461596503" sldId="269"/>
            <ac:spMk id="5" creationId="{7BC986A8-787B-C6FB-018D-35B64BE8C8C7}"/>
          </ac:spMkLst>
        </pc:spChg>
        <pc:spChg chg="add mod">
          <ac:chgData name="Subarna Mallick" userId="f9cb8387eaf94e09" providerId="LiveId" clId="{D1BF3B4C-A20E-4D4D-ACCD-BA6DF7BA9200}" dt="2026-05-17T16:17:50.895" v="2638" actId="17032"/>
          <ac:spMkLst>
            <pc:docMk/>
            <pc:sldMk cId="461596503" sldId="269"/>
            <ac:spMk id="26" creationId="{40E592B4-FEA3-ABAE-6896-FD40673A6659}"/>
          </ac:spMkLst>
        </pc:spChg>
        <pc:cxnChg chg="add mod">
          <ac:chgData name="Subarna Mallick" userId="f9cb8387eaf94e09" providerId="LiveId" clId="{D1BF3B4C-A20E-4D4D-ACCD-BA6DF7BA9200}" dt="2026-05-17T16:15:39.880" v="2588" actId="14100"/>
          <ac:cxnSpMkLst>
            <pc:docMk/>
            <pc:sldMk cId="461596503" sldId="269"/>
            <ac:cxnSpMk id="7" creationId="{A4BF7491-8C70-4019-6472-F48DE29A00FF}"/>
          </ac:cxnSpMkLst>
        </pc:cxnChg>
        <pc:cxnChg chg="add">
          <ac:chgData name="Subarna Mallick" userId="f9cb8387eaf94e09" providerId="LiveId" clId="{D1BF3B4C-A20E-4D4D-ACCD-BA6DF7BA9200}" dt="2026-05-17T16:14:52.024" v="2548" actId="11529"/>
          <ac:cxnSpMkLst>
            <pc:docMk/>
            <pc:sldMk cId="461596503" sldId="269"/>
            <ac:cxnSpMk id="9" creationId="{FEDA3668-18C0-C6CE-CA7A-B53F3E9AA5B3}"/>
          </ac:cxnSpMkLst>
        </pc:cxnChg>
        <pc:cxnChg chg="add">
          <ac:chgData name="Subarna Mallick" userId="f9cb8387eaf94e09" providerId="LiveId" clId="{D1BF3B4C-A20E-4D4D-ACCD-BA6DF7BA9200}" dt="2026-05-17T16:15:19.761" v="2584" actId="11529"/>
          <ac:cxnSpMkLst>
            <pc:docMk/>
            <pc:sldMk cId="461596503" sldId="269"/>
            <ac:cxnSpMk id="11" creationId="{CA715386-380D-E50C-F4B7-811666C56054}"/>
          </ac:cxnSpMkLst>
        </pc:cxnChg>
        <pc:cxnChg chg="add">
          <ac:chgData name="Subarna Mallick" userId="f9cb8387eaf94e09" providerId="LiveId" clId="{D1BF3B4C-A20E-4D4D-ACCD-BA6DF7BA9200}" dt="2026-05-17T16:15:24.862" v="2585" actId="11529"/>
          <ac:cxnSpMkLst>
            <pc:docMk/>
            <pc:sldMk cId="461596503" sldId="269"/>
            <ac:cxnSpMk id="13" creationId="{41899E0E-2CC4-773C-5DD1-D135806602DB}"/>
          </ac:cxnSpMkLst>
        </pc:cxnChg>
        <pc:cxnChg chg="add">
          <ac:chgData name="Subarna Mallick" userId="f9cb8387eaf94e09" providerId="LiveId" clId="{D1BF3B4C-A20E-4D4D-ACCD-BA6DF7BA9200}" dt="2026-05-17T16:15:30.518" v="2586" actId="11529"/>
          <ac:cxnSpMkLst>
            <pc:docMk/>
            <pc:sldMk cId="461596503" sldId="269"/>
            <ac:cxnSpMk id="15" creationId="{46B504A7-2667-8C20-0928-A483E3A12696}"/>
          </ac:cxnSpMkLst>
        </pc:cxnChg>
        <pc:cxnChg chg="add">
          <ac:chgData name="Subarna Mallick" userId="f9cb8387eaf94e09" providerId="LiveId" clId="{D1BF3B4C-A20E-4D4D-ACCD-BA6DF7BA9200}" dt="2026-05-17T16:16:02.878" v="2627" actId="11529"/>
          <ac:cxnSpMkLst>
            <pc:docMk/>
            <pc:sldMk cId="461596503" sldId="269"/>
            <ac:cxnSpMk id="19" creationId="{AA299BFA-36BC-B806-588F-8EE209446544}"/>
          </ac:cxnSpMkLst>
        </pc:cxnChg>
        <pc:cxnChg chg="add">
          <ac:chgData name="Subarna Mallick" userId="f9cb8387eaf94e09" providerId="LiveId" clId="{D1BF3B4C-A20E-4D4D-ACCD-BA6DF7BA9200}" dt="2026-05-17T16:16:10.313" v="2628" actId="11529"/>
          <ac:cxnSpMkLst>
            <pc:docMk/>
            <pc:sldMk cId="461596503" sldId="269"/>
            <ac:cxnSpMk id="21" creationId="{36B388AF-AB70-0BBD-536F-04BE648080D0}"/>
          </ac:cxnSpMkLst>
        </pc:cxnChg>
        <pc:cxnChg chg="add">
          <ac:chgData name="Subarna Mallick" userId="f9cb8387eaf94e09" providerId="LiveId" clId="{D1BF3B4C-A20E-4D4D-ACCD-BA6DF7BA9200}" dt="2026-05-17T16:16:18.260" v="2629" actId="11529"/>
          <ac:cxnSpMkLst>
            <pc:docMk/>
            <pc:sldMk cId="461596503" sldId="269"/>
            <ac:cxnSpMk id="23" creationId="{A6DB77FF-CB5E-F292-D46E-F35AA8A054F9}"/>
          </ac:cxnSpMkLst>
        </pc:cxnChg>
        <pc:cxnChg chg="add">
          <ac:chgData name="Subarna Mallick" userId="f9cb8387eaf94e09" providerId="LiveId" clId="{D1BF3B4C-A20E-4D4D-ACCD-BA6DF7BA9200}" dt="2026-05-17T16:16:26.459" v="2630" actId="11529"/>
          <ac:cxnSpMkLst>
            <pc:docMk/>
            <pc:sldMk cId="461596503" sldId="269"/>
            <ac:cxnSpMk id="25" creationId="{4E651A0A-E009-37AB-9909-F88A57A66AED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CAE31C-0D24-4C65-A470-CD0B9DBE6083}" type="doc">
      <dgm:prSet loTypeId="urn:microsoft.com/office/officeart/2005/8/layout/pyramid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81E8CCB-A074-4050-8846-F631D366288D}">
      <dgm:prSet/>
      <dgm:spPr/>
      <dgm:t>
        <a:bodyPr/>
        <a:lstStyle/>
        <a:p>
          <a:pPr>
            <a:buNone/>
          </a:pPr>
          <a:r>
            <a:rPr lang="en-US">
              <a:latin typeface="Algerian" panose="04020705040A02060702" pitchFamily="82" charset="0"/>
            </a:rPr>
            <a:t>Eco battery</a:t>
          </a:r>
        </a:p>
        <a:p>
          <a:pPr>
            <a:buNone/>
          </a:pPr>
          <a:r>
            <a:rPr lang="en-US"/>
            <a:t>❌ </a:t>
          </a:r>
          <a:r>
            <a:rPr lang="en-US" b="1"/>
            <a:t>Higher production cost</a:t>
          </a:r>
          <a:r>
            <a:rPr lang="en-US"/>
            <a:t> → Lower margins</a:t>
          </a:r>
          <a:br>
            <a:rPr lang="en-US"/>
          </a:br>
          <a:r>
            <a:rPr lang="en-US"/>
            <a:t>❌ </a:t>
          </a:r>
          <a:r>
            <a:rPr lang="en-US" b="1"/>
            <a:t>Lower order quantity and AOV</a:t>
          </a:r>
          <a:r>
            <a:rPr lang="en-US"/>
            <a:t> → Less revenue per order</a:t>
          </a:r>
          <a:br>
            <a:rPr lang="en-US"/>
          </a:br>
          <a:r>
            <a:rPr lang="en-US"/>
            <a:t> </a:t>
          </a:r>
          <a:r>
            <a:rPr lang="en-US" b="1"/>
            <a:t>High OTD</a:t>
          </a:r>
          <a:r>
            <a:rPr lang="en-US"/>
            <a:t> → Better customer satisfaction and reliability</a:t>
          </a:r>
          <a:endParaRPr lang="en-IN" b="1"/>
        </a:p>
      </dgm:t>
    </dgm:pt>
    <dgm:pt modelId="{DE71B5DE-2395-47AA-A100-4BD1FD17195D}" type="parTrans" cxnId="{55F5CD28-FFA7-468B-94A1-DD45DB7F3FD7}">
      <dgm:prSet/>
      <dgm:spPr/>
      <dgm:t>
        <a:bodyPr/>
        <a:lstStyle/>
        <a:p>
          <a:endParaRPr lang="en-IN"/>
        </a:p>
      </dgm:t>
    </dgm:pt>
    <dgm:pt modelId="{026A21E2-B5F9-4C60-8B09-D389DA16FA82}" type="sibTrans" cxnId="{55F5CD28-FFA7-468B-94A1-DD45DB7F3FD7}">
      <dgm:prSet/>
      <dgm:spPr/>
      <dgm:t>
        <a:bodyPr/>
        <a:lstStyle/>
        <a:p>
          <a:endParaRPr lang="en-IN"/>
        </a:p>
      </dgm:t>
    </dgm:pt>
    <dgm:pt modelId="{9923104D-670F-4E50-83AA-E89420DB5923}">
      <dgm:prSet/>
      <dgm:spPr/>
      <dgm:t>
        <a:bodyPr/>
        <a:lstStyle/>
        <a:p>
          <a:pPr>
            <a:buNone/>
          </a:pPr>
          <a:r>
            <a:rPr lang="en-US" dirty="0">
              <a:latin typeface="Algerian" panose="04020705040A02060702" pitchFamily="82" charset="0"/>
            </a:rPr>
            <a:t>TITAN INVERTER</a:t>
          </a:r>
        </a:p>
        <a:p>
          <a:pPr>
            <a:buNone/>
          </a:pPr>
          <a:r>
            <a:rPr lang="en-US" dirty="0"/>
            <a:t> </a:t>
          </a:r>
          <a:r>
            <a:rPr lang="en-US" b="1" dirty="0"/>
            <a:t>Lower production cost</a:t>
          </a:r>
          <a:r>
            <a:rPr lang="en-US" dirty="0"/>
            <a:t> → Higher potential profit margins</a:t>
          </a:r>
          <a:br>
            <a:rPr lang="en-US" dirty="0"/>
          </a:br>
          <a:r>
            <a:rPr lang="en-US" dirty="0"/>
            <a:t> </a:t>
          </a:r>
          <a:r>
            <a:rPr lang="en-US" b="1" dirty="0"/>
            <a:t>Higher number of units per order</a:t>
          </a:r>
          <a:r>
            <a:rPr lang="en-US" dirty="0"/>
            <a:t> → Larger sales volumes</a:t>
          </a:r>
        </a:p>
        <a:p>
          <a:pPr>
            <a:buNone/>
          </a:pPr>
          <a:r>
            <a:rPr lang="en-US" dirty="0"/>
            <a:t> </a:t>
          </a:r>
          <a:r>
            <a:rPr lang="en-US" b="1" dirty="0"/>
            <a:t>Higher Average Order Value (AOV)</a:t>
          </a:r>
          <a:r>
            <a:rPr lang="en-US" dirty="0"/>
            <a:t> → Significant revenue contribution</a:t>
          </a:r>
          <a:br>
            <a:rPr lang="en-US" dirty="0"/>
          </a:br>
          <a:r>
            <a:rPr lang="en-US" dirty="0"/>
            <a:t>❌ </a:t>
          </a:r>
          <a:r>
            <a:rPr lang="en-US" b="1" dirty="0"/>
            <a:t>Low On-Time Delivery (OTD)</a:t>
          </a:r>
          <a:r>
            <a:rPr lang="en-US" dirty="0"/>
            <a:t> → Customer dissatisfaction and revenue at risk</a:t>
          </a:r>
        </a:p>
      </dgm:t>
    </dgm:pt>
    <dgm:pt modelId="{3EB93593-FD2C-431E-ACEF-B717C60DE6B7}" type="parTrans" cxnId="{F673EEE7-1F2D-486D-9226-363E1E7DEA8B}">
      <dgm:prSet/>
      <dgm:spPr/>
      <dgm:t>
        <a:bodyPr/>
        <a:lstStyle/>
        <a:p>
          <a:endParaRPr lang="en-IN"/>
        </a:p>
      </dgm:t>
    </dgm:pt>
    <dgm:pt modelId="{85AD054A-A317-47C9-9A46-82BE36C16FF6}" type="sibTrans" cxnId="{F673EEE7-1F2D-486D-9226-363E1E7DEA8B}">
      <dgm:prSet/>
      <dgm:spPr/>
      <dgm:t>
        <a:bodyPr/>
        <a:lstStyle/>
        <a:p>
          <a:endParaRPr lang="en-IN"/>
        </a:p>
      </dgm:t>
    </dgm:pt>
    <dgm:pt modelId="{A54C4653-07A6-434F-9AA8-74AE1EE2F49D}" type="pres">
      <dgm:prSet presAssocID="{56CAE31C-0D24-4C65-A470-CD0B9DBE6083}" presName="compositeShape" presStyleCnt="0">
        <dgm:presLayoutVars>
          <dgm:dir/>
          <dgm:resizeHandles/>
        </dgm:presLayoutVars>
      </dgm:prSet>
      <dgm:spPr/>
    </dgm:pt>
    <dgm:pt modelId="{1ACC5406-E96B-4EAF-A6D3-D78DF079FB82}" type="pres">
      <dgm:prSet presAssocID="{56CAE31C-0D24-4C65-A470-CD0B9DBE6083}" presName="pyramid" presStyleLbl="node1" presStyleIdx="0" presStyleCnt="1"/>
      <dgm:spPr/>
    </dgm:pt>
    <dgm:pt modelId="{53FE1EF4-3C98-4D09-B537-6BFF25FDDE30}" type="pres">
      <dgm:prSet presAssocID="{56CAE31C-0D24-4C65-A470-CD0B9DBE6083}" presName="theList" presStyleCnt="0"/>
      <dgm:spPr/>
    </dgm:pt>
    <dgm:pt modelId="{8E40B8E0-0CBF-4E5A-8275-2083A01EBA9C}" type="pres">
      <dgm:prSet presAssocID="{9923104D-670F-4E50-83AA-E89420DB5923}" presName="aNode" presStyleLbl="fgAcc1" presStyleIdx="0" presStyleCnt="2" custLinFactNeighborX="1099" custLinFactNeighborY="24113">
        <dgm:presLayoutVars>
          <dgm:bulletEnabled val="1"/>
        </dgm:presLayoutVars>
      </dgm:prSet>
      <dgm:spPr/>
    </dgm:pt>
    <dgm:pt modelId="{97820E9B-6DE7-4EF3-9040-2ABCB4A9E6B0}" type="pres">
      <dgm:prSet presAssocID="{9923104D-670F-4E50-83AA-E89420DB5923}" presName="aSpace" presStyleCnt="0"/>
      <dgm:spPr/>
    </dgm:pt>
    <dgm:pt modelId="{C1DDCFCD-A74B-4D00-B63A-4A95F81A232E}" type="pres">
      <dgm:prSet presAssocID="{281E8CCB-A074-4050-8846-F631D366288D}" presName="aNode" presStyleLbl="fgAcc1" presStyleIdx="1" presStyleCnt="2">
        <dgm:presLayoutVars>
          <dgm:bulletEnabled val="1"/>
        </dgm:presLayoutVars>
      </dgm:prSet>
      <dgm:spPr/>
    </dgm:pt>
    <dgm:pt modelId="{4BB08278-7C3B-413B-9708-7B5DD9A0BB01}" type="pres">
      <dgm:prSet presAssocID="{281E8CCB-A074-4050-8846-F631D366288D}" presName="aSpace" presStyleCnt="0"/>
      <dgm:spPr/>
    </dgm:pt>
  </dgm:ptLst>
  <dgm:cxnLst>
    <dgm:cxn modelId="{55F5CD28-FFA7-468B-94A1-DD45DB7F3FD7}" srcId="{56CAE31C-0D24-4C65-A470-CD0B9DBE6083}" destId="{281E8CCB-A074-4050-8846-F631D366288D}" srcOrd="1" destOrd="0" parTransId="{DE71B5DE-2395-47AA-A100-4BD1FD17195D}" sibTransId="{026A21E2-B5F9-4C60-8B09-D389DA16FA82}"/>
    <dgm:cxn modelId="{81F76F99-0A66-4DED-9D56-90C65915B44E}" type="presOf" srcId="{56CAE31C-0D24-4C65-A470-CD0B9DBE6083}" destId="{A54C4653-07A6-434F-9AA8-74AE1EE2F49D}" srcOrd="0" destOrd="0" presId="urn:microsoft.com/office/officeart/2005/8/layout/pyramid2"/>
    <dgm:cxn modelId="{27E4DCA4-4C71-4705-8746-E9DD9E2FFDF0}" type="presOf" srcId="{9923104D-670F-4E50-83AA-E89420DB5923}" destId="{8E40B8E0-0CBF-4E5A-8275-2083A01EBA9C}" srcOrd="0" destOrd="0" presId="urn:microsoft.com/office/officeart/2005/8/layout/pyramid2"/>
    <dgm:cxn modelId="{340266BC-E61D-4C2B-913E-EB66452B3B89}" type="presOf" srcId="{281E8CCB-A074-4050-8846-F631D366288D}" destId="{C1DDCFCD-A74B-4D00-B63A-4A95F81A232E}" srcOrd="0" destOrd="0" presId="urn:microsoft.com/office/officeart/2005/8/layout/pyramid2"/>
    <dgm:cxn modelId="{F673EEE7-1F2D-486D-9226-363E1E7DEA8B}" srcId="{56CAE31C-0D24-4C65-A470-CD0B9DBE6083}" destId="{9923104D-670F-4E50-83AA-E89420DB5923}" srcOrd="0" destOrd="0" parTransId="{3EB93593-FD2C-431E-ACEF-B717C60DE6B7}" sibTransId="{85AD054A-A317-47C9-9A46-82BE36C16FF6}"/>
    <dgm:cxn modelId="{94BB9066-FD27-4F68-847B-3694C764C7E1}" type="presParOf" srcId="{A54C4653-07A6-434F-9AA8-74AE1EE2F49D}" destId="{1ACC5406-E96B-4EAF-A6D3-D78DF079FB82}" srcOrd="0" destOrd="0" presId="urn:microsoft.com/office/officeart/2005/8/layout/pyramid2"/>
    <dgm:cxn modelId="{9831D134-151A-40E1-94C5-AEAA3F91DA7B}" type="presParOf" srcId="{A54C4653-07A6-434F-9AA8-74AE1EE2F49D}" destId="{53FE1EF4-3C98-4D09-B537-6BFF25FDDE30}" srcOrd="1" destOrd="0" presId="urn:microsoft.com/office/officeart/2005/8/layout/pyramid2"/>
    <dgm:cxn modelId="{64D79CDA-18D0-4889-9F2A-D6F39D612128}" type="presParOf" srcId="{53FE1EF4-3C98-4D09-B537-6BFF25FDDE30}" destId="{8E40B8E0-0CBF-4E5A-8275-2083A01EBA9C}" srcOrd="0" destOrd="0" presId="urn:microsoft.com/office/officeart/2005/8/layout/pyramid2"/>
    <dgm:cxn modelId="{0538D867-6DA0-4DFD-BEBF-4306199DE8C4}" type="presParOf" srcId="{53FE1EF4-3C98-4D09-B537-6BFF25FDDE30}" destId="{97820E9B-6DE7-4EF3-9040-2ABCB4A9E6B0}" srcOrd="1" destOrd="0" presId="urn:microsoft.com/office/officeart/2005/8/layout/pyramid2"/>
    <dgm:cxn modelId="{E5B98A7C-235A-41E9-9A06-C0AE9770956B}" type="presParOf" srcId="{53FE1EF4-3C98-4D09-B537-6BFF25FDDE30}" destId="{C1DDCFCD-A74B-4D00-B63A-4A95F81A232E}" srcOrd="2" destOrd="0" presId="urn:microsoft.com/office/officeart/2005/8/layout/pyramid2"/>
    <dgm:cxn modelId="{596B66A3-823A-4557-A22A-16F2E422A71A}" type="presParOf" srcId="{53FE1EF4-3C98-4D09-B537-6BFF25FDDE30}" destId="{4BB08278-7C3B-413B-9708-7B5DD9A0BB01}" srcOrd="3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CC5406-E96B-4EAF-A6D3-D78DF079FB82}">
      <dsp:nvSpPr>
        <dsp:cNvPr id="0" name=""/>
        <dsp:cNvSpPr/>
      </dsp:nvSpPr>
      <dsp:spPr>
        <a:xfrm>
          <a:off x="2314267" y="0"/>
          <a:ext cx="5506065" cy="5506065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40B8E0-0CBF-4E5A-8275-2083A01EBA9C}">
      <dsp:nvSpPr>
        <dsp:cNvPr id="0" name=""/>
        <dsp:cNvSpPr/>
      </dsp:nvSpPr>
      <dsp:spPr>
        <a:xfrm>
          <a:off x="5106632" y="610137"/>
          <a:ext cx="3578942" cy="195723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lgerian" panose="04020705040A02060702" pitchFamily="82" charset="0"/>
            </a:rPr>
            <a:t>TITAN INVERTER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  <a:r>
            <a:rPr lang="en-US" sz="1100" b="1" kern="1200" dirty="0"/>
            <a:t>Lower production cost</a:t>
          </a:r>
          <a:r>
            <a:rPr lang="en-US" sz="1100" kern="1200" dirty="0"/>
            <a:t> → Higher potential profit margins</a:t>
          </a:r>
          <a:br>
            <a:rPr lang="en-US" sz="1100" kern="1200" dirty="0"/>
          </a:br>
          <a:r>
            <a:rPr lang="en-US" sz="1100" kern="1200" dirty="0"/>
            <a:t> </a:t>
          </a:r>
          <a:r>
            <a:rPr lang="en-US" sz="1100" b="1" kern="1200" dirty="0"/>
            <a:t>Higher number of units per order</a:t>
          </a:r>
          <a:r>
            <a:rPr lang="en-US" sz="1100" kern="1200" dirty="0"/>
            <a:t> → Larger sales volumes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</a:t>
          </a:r>
          <a:r>
            <a:rPr lang="en-US" sz="1100" b="1" kern="1200" dirty="0"/>
            <a:t>Higher Average Order Value (AOV)</a:t>
          </a:r>
          <a:r>
            <a:rPr lang="en-US" sz="1100" kern="1200" dirty="0"/>
            <a:t> → Significant revenue contribution</a:t>
          </a:r>
          <a:br>
            <a:rPr lang="en-US" sz="1100" kern="1200" dirty="0"/>
          </a:br>
          <a:r>
            <a:rPr lang="en-US" sz="1100" kern="1200" dirty="0"/>
            <a:t>❌ </a:t>
          </a:r>
          <a:r>
            <a:rPr lang="en-US" sz="1100" b="1" kern="1200" dirty="0"/>
            <a:t>Low On-Time Delivery (OTD)</a:t>
          </a:r>
          <a:r>
            <a:rPr lang="en-US" sz="1100" kern="1200" dirty="0"/>
            <a:t> → Customer dissatisfaction and revenue at risk</a:t>
          </a:r>
        </a:p>
      </dsp:txBody>
      <dsp:txXfrm>
        <a:off x="5202176" y="705681"/>
        <a:ext cx="3387854" cy="1766146"/>
      </dsp:txXfrm>
    </dsp:sp>
    <dsp:sp modelId="{C1DDCFCD-A74B-4D00-B63A-4A95F81A232E}">
      <dsp:nvSpPr>
        <dsp:cNvPr id="0" name=""/>
        <dsp:cNvSpPr/>
      </dsp:nvSpPr>
      <dsp:spPr>
        <a:xfrm>
          <a:off x="5067300" y="2753032"/>
          <a:ext cx="3578942" cy="195723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lgerian" panose="04020705040A02060702" pitchFamily="82" charset="0"/>
            </a:rPr>
            <a:t>Eco battery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❌ </a:t>
          </a:r>
          <a:r>
            <a:rPr lang="en-US" sz="1100" b="1" kern="1200"/>
            <a:t>Higher production cost</a:t>
          </a:r>
          <a:r>
            <a:rPr lang="en-US" sz="1100" kern="1200"/>
            <a:t> → Lower margins</a:t>
          </a:r>
          <a:br>
            <a:rPr lang="en-US" sz="1100" kern="1200"/>
          </a:br>
          <a:r>
            <a:rPr lang="en-US" sz="1100" kern="1200"/>
            <a:t>❌ </a:t>
          </a:r>
          <a:r>
            <a:rPr lang="en-US" sz="1100" b="1" kern="1200"/>
            <a:t>Lower order quantity and AOV</a:t>
          </a:r>
          <a:r>
            <a:rPr lang="en-US" sz="1100" kern="1200"/>
            <a:t> → Less revenue per order</a:t>
          </a:r>
          <a:br>
            <a:rPr lang="en-US" sz="1100" kern="1200"/>
          </a:br>
          <a:r>
            <a:rPr lang="en-US" sz="1100" kern="1200"/>
            <a:t> </a:t>
          </a:r>
          <a:r>
            <a:rPr lang="en-US" sz="1100" b="1" kern="1200"/>
            <a:t>High OTD</a:t>
          </a:r>
          <a:r>
            <a:rPr lang="en-US" sz="1100" kern="1200"/>
            <a:t> → Better customer satisfaction and reliability</a:t>
          </a:r>
          <a:endParaRPr lang="en-IN" sz="1100" b="1" kern="1200"/>
        </a:p>
      </dsp:txBody>
      <dsp:txXfrm>
        <a:off x="5162844" y="2848576"/>
        <a:ext cx="3387854" cy="17661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6:22:11.336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2 27 0,'4287'-27'0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F5B81-2259-4976-906C-B3EB41DC8E9F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182F22-34C8-4462-B450-6FC3F0AF8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731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10E7-0309-AC48-2093-D0A3C82891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450BC-BDDA-F610-B3F3-140B66A68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B5017-543A-4AFF-B174-D7FFD5CD5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FC8D-57B8-4294-9CAA-9F53326A549C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D8FA6-3476-EFB4-507E-52396995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A9433-F432-867B-3538-7005F6CCC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33EE-D3C0-46BD-B6B6-F731DF944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355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3EC3E-3BC6-801A-4355-2FE83C073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4EBC1-DD10-137A-F75A-29E454144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E0F39-A84E-65AD-D789-67961F16C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FC8D-57B8-4294-9CAA-9F53326A549C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7A047-2CFB-E1D2-37C7-1C6F1B787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7433A-9EEC-01CE-7C5D-939ED3F7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33EE-D3C0-46BD-B6B6-F731DF944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692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3B5B9-C4FD-A0EE-66E2-8553ADD0D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25890-0785-7E6C-A01B-E0EB72C81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F825A-BE1A-C75A-D182-0391E3325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FC8D-57B8-4294-9CAA-9F53326A549C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DBAD3-4B10-D7DF-31E8-392C85D10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A2773-6834-0E84-EEC6-E34928E6D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33EE-D3C0-46BD-B6B6-F731DF944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999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F3B19-7B12-F226-BE42-9534EC24B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0D8CF-BB98-D5AA-997D-9425795259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11FC3-BF5B-54BA-FB47-1244990ED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E6892E-7576-1ADF-5192-D43A16583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FC8D-57B8-4294-9CAA-9F53326A549C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838B2-5AEC-5DEE-80DB-25B3C8518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48D88-2711-D044-46E1-29EB179AF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33EE-D3C0-46BD-B6B6-F731DF944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678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B1CEA-4D31-8161-8624-0CC734AC9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CCCEFC-4890-CD06-800D-D4F2FFEA7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0AA9A-238D-57D4-4C93-56D4F0BF1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1478D9-BCCF-300F-8058-E3976F148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6EE9D0-1998-3C93-99B9-9EC9EA1966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5E45A4-D7DE-0DE8-4BA0-2897898F5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FC8D-57B8-4294-9CAA-9F53326A549C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857202-DF00-AA1F-500D-74CD22F7D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24FF28-A173-8D11-87F1-D02900184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33EE-D3C0-46BD-B6B6-F731DF944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042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44B69-7BA1-7442-0FEB-232D1E651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256D90-FEA5-9E16-6847-B7A216150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FC8D-57B8-4294-9CAA-9F53326A549C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C5752-C8FC-CC48-3B77-01B796AAF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581A5B-E0EF-9595-AECF-C1CFD1AB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33EE-D3C0-46BD-B6B6-F731DF944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916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C9CDD2-3BA3-2602-E6FB-849617C94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FC8D-57B8-4294-9CAA-9F53326A549C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67D59C-38ED-781A-766E-58491FF44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F7376-6102-BBD8-7BC2-9DEBBE1AB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33EE-D3C0-46BD-B6B6-F731DF944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868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77977-74F3-2DDC-55D0-D9CB4AEE9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8FA15-7B17-21E3-C9D8-7CCA172AE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F760DF-B769-B320-C11C-886D077B6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DFD1F-675A-175E-AD16-F0FC6559D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FC8D-57B8-4294-9CAA-9F53326A549C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9E091-1293-AAA6-305F-6CB5104AD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0000C-30C5-8462-D2A5-6991E4966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33EE-D3C0-46BD-B6B6-F731DF944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711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95E54-57E8-B21F-FD4E-4FAF77AF3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38D05D-0BF9-EF9E-BD9B-8575FFB2E0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0A39AB-FF6A-4E1D-C386-5A1AA4738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8A0FE-D1E3-BAE0-C5B0-28B56A00E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FC8D-57B8-4294-9CAA-9F53326A549C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2B08C-ECAD-DFFD-6C16-6ADD83C68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164398-9568-888E-0B23-74B28AE7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33EE-D3C0-46BD-B6B6-F731DF944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585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56B59-958E-28DA-B9F9-50D743FD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76332-FF20-D6AD-E1F3-BC18471AE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152AE-ADB7-C611-E431-CC91436F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FC8D-57B8-4294-9CAA-9F53326A549C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BC4C1-B924-8CBC-4591-6A0C11FD0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CFE8B-8132-2414-915C-20BF28239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33EE-D3C0-46BD-B6B6-F731DF944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16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08D36F-0240-36DE-70FD-70D4E1616C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8000B2-03DD-076D-2E93-0EE8F669E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0AE93-1F00-5BEA-237D-E55E9CDC0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FC8D-57B8-4294-9CAA-9F53326A549C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0AF93-C511-8CD6-CA99-FA7202020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D3F24-5B34-4556-9A2E-B0EF9BD4E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33EE-D3C0-46BD-B6B6-F731DF944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890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F7C84-5BE5-E4C4-C243-AFBAC70E9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47A38-6C78-892A-08D2-4E0207151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5F986-1F57-8D7E-1786-349F6A0D69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3FC8D-57B8-4294-9CAA-9F53326A549C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9131F-669D-89E2-1F4A-1B10ECA348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A811E-747C-219D-BD42-9EBEC0B85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0F33EE-D3C0-46BD-B6B6-F731DF9444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720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CEA76-F898-ABBE-9063-C82D6D62C8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7200" dirty="0">
                <a:latin typeface="Congenial Black" panose="020F0502020204030204" pitchFamily="2" charset="0"/>
              </a:rPr>
              <a:t>SOLARSIS</a:t>
            </a:r>
          </a:p>
        </p:txBody>
      </p:sp>
    </p:spTree>
    <p:extLst>
      <p:ext uri="{BB962C8B-B14F-4D97-AF65-F5344CB8AC3E}">
        <p14:creationId xmlns:p14="http://schemas.microsoft.com/office/powerpoint/2010/main" val="578396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141AF-2FD8-E878-D2F5-FB2EBD8B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56" y="156583"/>
            <a:ext cx="1553493" cy="506361"/>
          </a:xfrm>
        </p:spPr>
        <p:txBody>
          <a:bodyPr>
            <a:noAutofit/>
          </a:bodyPr>
          <a:lstStyle/>
          <a:p>
            <a:r>
              <a:rPr lang="en-IN" sz="3600"/>
              <a:t>TASK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F72BF-B635-1E24-0513-B3BB0D00B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330" y="809063"/>
            <a:ext cx="3942735" cy="2733368"/>
          </a:xfrm>
        </p:spPr>
        <p:txBody>
          <a:bodyPr>
            <a:normAutofit fontScale="92500" lnSpcReduction="20000"/>
          </a:bodyPr>
          <a:lstStyle/>
          <a:p>
            <a:r>
              <a:rPr lang="en-IN" sz="2600">
                <a:solidFill>
                  <a:schemeClr val="accent6">
                    <a:lumMod val="50000"/>
                  </a:schemeClr>
                </a:solidFill>
              </a:rPr>
              <a:t>TARGET OTD=80%</a:t>
            </a:r>
            <a:r>
              <a:rPr lang="en-IN"/>
              <a:t>                                                                                         </a:t>
            </a:r>
          </a:p>
          <a:p>
            <a:r>
              <a:rPr lang="en-IN"/>
              <a:t>(A)</a:t>
            </a:r>
            <a:r>
              <a:rPr lang="en-IN">
                <a:latin typeface="Congenial Black" panose="02000503040000020004" pitchFamily="2" charset="0"/>
              </a:rPr>
              <a:t>DELIVERY_COMPANY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err="1">
                <a:latin typeface="Congenial Black" panose="02000503040000020004" pitchFamily="2" charset="0"/>
              </a:rPr>
              <a:t>Bluedart</a:t>
            </a:r>
            <a:endParaRPr lang="en-IN" sz="1900">
              <a:latin typeface="Congenial Black" panose="02000503040000020004" pitchFamily="2" charset="0"/>
            </a:endParaRPr>
          </a:p>
          <a:p>
            <a:pPr fontAlgn="base" latinLnBrk="1"/>
            <a:r>
              <a:rPr lang="en-US"/>
              <a:t>Total number of </a:t>
            </a:r>
            <a:r>
              <a:rPr lang="en-US" err="1"/>
              <a:t>BlueDart</a:t>
            </a:r>
            <a:r>
              <a:rPr lang="en-US"/>
              <a:t> deliveries: 17956</a:t>
            </a:r>
          </a:p>
          <a:p>
            <a:pPr fontAlgn="base" latinLnBrk="1"/>
            <a:r>
              <a:rPr lang="en-US"/>
              <a:t>Total number of on-time deliveries: 16140</a:t>
            </a:r>
          </a:p>
          <a:p>
            <a:pPr fontAlgn="base" latinLnBrk="1"/>
            <a:r>
              <a:rPr lang="en-US"/>
              <a:t>ORDER_DATE_MET</a:t>
            </a:r>
          </a:p>
          <a:p>
            <a:pPr fontAlgn="base" latinLnBrk="1"/>
            <a:r>
              <a:rPr lang="en-US"/>
              <a:t>1.0    16140</a:t>
            </a:r>
          </a:p>
          <a:p>
            <a:pPr fontAlgn="base" latinLnBrk="1"/>
            <a:r>
              <a:rPr lang="en-US"/>
              <a:t>0.0     1816</a:t>
            </a:r>
          </a:p>
          <a:p>
            <a:pPr fontAlgn="base" latinLnBrk="1"/>
            <a:r>
              <a:rPr lang="en-US"/>
              <a:t>On-Time Delivery Rate: 89.89%</a:t>
            </a:r>
          </a:p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856AA7-0B7F-789B-263A-64D0AB60D825}"/>
              </a:ext>
            </a:extLst>
          </p:cNvPr>
          <p:cNvSpPr txBox="1"/>
          <p:nvPr/>
        </p:nvSpPr>
        <p:spPr>
          <a:xfrm>
            <a:off x="4468762" y="1110828"/>
            <a:ext cx="494562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Congenial Black" panose="02000503040000020004" pitchFamily="2" charset="0"/>
              </a:rPr>
              <a:t>Delhivery</a:t>
            </a:r>
            <a:endParaRPr lang="en-IN" dirty="0">
              <a:latin typeface="Congenial Black" panose="02000503040000020004" pitchFamily="2" charset="0"/>
            </a:endParaRPr>
          </a:p>
          <a:p>
            <a:r>
              <a:rPr lang="en-US" dirty="0"/>
              <a:t>total number of </a:t>
            </a:r>
            <a:r>
              <a:rPr lang="en-US" dirty="0" err="1"/>
              <a:t>delhivery</a:t>
            </a:r>
            <a:r>
              <a:rPr lang="en-US" dirty="0"/>
              <a:t> deliveries: 1259</a:t>
            </a:r>
          </a:p>
          <a:p>
            <a:pPr fontAlgn="base" latinLnBrk="1"/>
            <a:r>
              <a:rPr lang="en-US" dirty="0"/>
              <a:t>total number of on time deliveries: 659</a:t>
            </a:r>
          </a:p>
          <a:p>
            <a:pPr fontAlgn="base" latinLnBrk="1"/>
            <a:r>
              <a:rPr lang="en-US" dirty="0"/>
              <a:t>ORDER_DATE_MET</a:t>
            </a:r>
          </a:p>
          <a:p>
            <a:pPr fontAlgn="base" latinLnBrk="1"/>
            <a:r>
              <a:rPr lang="en-US" dirty="0"/>
              <a:t>1.0    659</a:t>
            </a:r>
          </a:p>
          <a:p>
            <a:pPr fontAlgn="base" latinLnBrk="1"/>
            <a:r>
              <a:rPr lang="en-US" dirty="0"/>
              <a:t>0.0    600</a:t>
            </a:r>
          </a:p>
          <a:p>
            <a:pPr fontAlgn="base" latinLnBrk="1"/>
            <a:r>
              <a:rPr lang="en-US" dirty="0">
                <a:highlight>
                  <a:srgbClr val="FFFF00"/>
                </a:highlight>
              </a:rPr>
              <a:t>On time delivery rate:52.343129%</a:t>
            </a:r>
          </a:p>
          <a:p>
            <a:pPr fontAlgn="base" latinLnBrk="1"/>
            <a:r>
              <a:rPr lang="en-US" dirty="0">
                <a:highlight>
                  <a:srgbClr val="FF00FF"/>
                </a:highlight>
              </a:rPr>
              <a:t>performance gap:27.656871%</a:t>
            </a:r>
          </a:p>
          <a:p>
            <a:r>
              <a:rPr lang="en-IN" dirty="0">
                <a:highlight>
                  <a:srgbClr val="FF0000"/>
                </a:highlight>
              </a:rPr>
              <a:t>Revenue at Stake: Rs 1,14,55,000.0</a:t>
            </a:r>
          </a:p>
          <a:p>
            <a:endParaRPr lang="en-IN" dirty="0">
              <a:highlight>
                <a:srgbClr val="FF0000"/>
              </a:highlight>
            </a:endParaRP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D8C112-AFDC-3924-FB31-9D78C098242D}"/>
              </a:ext>
            </a:extLst>
          </p:cNvPr>
          <p:cNvSpPr txBox="1"/>
          <p:nvPr/>
        </p:nvSpPr>
        <p:spPr>
          <a:xfrm>
            <a:off x="39330" y="3740613"/>
            <a:ext cx="44736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err="1">
                <a:latin typeface="Congenial Black" panose="02000503040000020004" pitchFamily="2" charset="0"/>
              </a:rPr>
              <a:t>Fedex</a:t>
            </a:r>
            <a:endParaRPr lang="en-IN">
              <a:latin typeface="Congenial Black" panose="02000503040000020004" pitchFamily="2" charset="0"/>
            </a:endParaRPr>
          </a:p>
          <a:p>
            <a:pPr fontAlgn="base" latinLnBrk="1"/>
            <a:r>
              <a:rPr lang="en-US"/>
              <a:t>total number of </a:t>
            </a:r>
            <a:r>
              <a:rPr lang="en-US" err="1"/>
              <a:t>fedex</a:t>
            </a:r>
            <a:r>
              <a:rPr lang="en-US"/>
              <a:t> deliveries: 722</a:t>
            </a:r>
          </a:p>
          <a:p>
            <a:pPr fontAlgn="base" latinLnBrk="1"/>
            <a:r>
              <a:rPr lang="en-US"/>
              <a:t>total number of on time deliveries: 611</a:t>
            </a:r>
          </a:p>
          <a:p>
            <a:pPr fontAlgn="base" latinLnBrk="1"/>
            <a:r>
              <a:rPr lang="en-US"/>
              <a:t>ORDER_DATE_MET</a:t>
            </a:r>
          </a:p>
          <a:p>
            <a:pPr fontAlgn="base" latinLnBrk="1"/>
            <a:r>
              <a:rPr lang="en-US"/>
              <a:t>1.0    611</a:t>
            </a:r>
          </a:p>
          <a:p>
            <a:pPr fontAlgn="base" latinLnBrk="1"/>
            <a:r>
              <a:rPr lang="en-US"/>
              <a:t>0.0    111</a:t>
            </a:r>
          </a:p>
          <a:p>
            <a:pPr fontAlgn="base" latinLnBrk="1"/>
            <a:r>
              <a:rPr lang="en-US"/>
              <a:t>On time delivery rate:84.626039%</a:t>
            </a:r>
          </a:p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669EA8-A189-ECE8-C332-3D73E190CB9A}"/>
              </a:ext>
            </a:extLst>
          </p:cNvPr>
          <p:cNvSpPr txBox="1"/>
          <p:nvPr/>
        </p:nvSpPr>
        <p:spPr>
          <a:xfrm>
            <a:off x="4513007" y="3815477"/>
            <a:ext cx="48571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latin typeface="Congenial Black" panose="02000503040000020004" pitchFamily="2" charset="0"/>
              </a:rPr>
              <a:t>DB Schenker</a:t>
            </a:r>
          </a:p>
          <a:p>
            <a:pPr fontAlgn="base" latinLnBrk="1"/>
            <a:r>
              <a:rPr lang="en-US"/>
              <a:t>total number of </a:t>
            </a:r>
            <a:r>
              <a:rPr lang="en-US" err="1"/>
              <a:t>schenker</a:t>
            </a:r>
            <a:r>
              <a:rPr lang="en-US"/>
              <a:t> deliveries: 16</a:t>
            </a:r>
          </a:p>
          <a:p>
            <a:pPr fontAlgn="base" latinLnBrk="1"/>
            <a:r>
              <a:rPr lang="en-US"/>
              <a:t>total number of on time deliveries: 16</a:t>
            </a:r>
          </a:p>
          <a:p>
            <a:pPr fontAlgn="base" latinLnBrk="1"/>
            <a:r>
              <a:rPr lang="en-US"/>
              <a:t>ORDER_DATE_MET</a:t>
            </a:r>
          </a:p>
          <a:p>
            <a:pPr fontAlgn="base" latinLnBrk="1"/>
            <a:r>
              <a:rPr lang="en-US"/>
              <a:t>1.0    16</a:t>
            </a:r>
          </a:p>
          <a:p>
            <a:pPr fontAlgn="base" latinLnBrk="1"/>
            <a:r>
              <a:rPr lang="en-US"/>
              <a:t>On time delivery rate:100.000000%</a:t>
            </a:r>
          </a:p>
          <a:p>
            <a:pPr fontAlgn="base" latinLnBrk="1"/>
            <a:endParaRPr lang="en-US"/>
          </a:p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5A43398-CE10-044E-A720-4FF28539F4C9}"/>
                  </a:ext>
                </a:extLst>
              </p14:cNvPr>
              <p14:cNvContentPartPr/>
              <p14:nvPr/>
            </p14:nvContentPartPr>
            <p14:xfrm>
              <a:off x="-2509705" y="3754590"/>
              <a:ext cx="1543680" cy="100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5A43398-CE10-044E-A720-4FF28539F4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563705" y="3646590"/>
                <a:ext cx="1651320" cy="22572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5829BDB-38BD-4235-42B9-1FB9E0789F69}"/>
              </a:ext>
            </a:extLst>
          </p:cNvPr>
          <p:cNvSpPr txBox="1"/>
          <p:nvPr/>
        </p:nvSpPr>
        <p:spPr>
          <a:xfrm>
            <a:off x="8858864" y="734199"/>
            <a:ext cx="31069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FORMULA:</a:t>
            </a:r>
          </a:p>
          <a:p>
            <a:r>
              <a:rPr lang="en-IN" dirty="0"/>
              <a:t>Revenue at stake= performance gap * total no of deliveries* penalty loss(Rs 5000)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AB0E7C6-46DA-135C-6434-4E18D782F157}"/>
              </a:ext>
            </a:extLst>
          </p:cNvPr>
          <p:cNvSpPr/>
          <p:nvPr/>
        </p:nvSpPr>
        <p:spPr>
          <a:xfrm>
            <a:off x="8652387" y="580783"/>
            <a:ext cx="3313470" cy="1630744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93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1DCFDA-5B19-FD77-D05B-529FCDBEB5CD}"/>
              </a:ext>
            </a:extLst>
          </p:cNvPr>
          <p:cNvSpPr txBox="1"/>
          <p:nvPr/>
        </p:nvSpPr>
        <p:spPr>
          <a:xfrm>
            <a:off x="206476" y="324465"/>
            <a:ext cx="437535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(B)</a:t>
            </a:r>
            <a:r>
              <a:rPr lang="en-IN" dirty="0">
                <a:latin typeface="Congenial Black" panose="02000503040000020004" pitchFamily="2" charset="0"/>
              </a:rPr>
              <a:t>PRODUCT_TYPE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Eco Battery</a:t>
            </a:r>
          </a:p>
          <a:p>
            <a:pPr fontAlgn="base" latinLnBrk="1"/>
            <a:r>
              <a:rPr lang="en-US" dirty="0"/>
              <a:t>total number of deliveries: 9534</a:t>
            </a:r>
          </a:p>
          <a:p>
            <a:pPr fontAlgn="base" latinLnBrk="1"/>
            <a:r>
              <a:rPr lang="en-US" dirty="0"/>
              <a:t>total number of on time deliveries: 9010</a:t>
            </a:r>
          </a:p>
          <a:p>
            <a:pPr fontAlgn="base" latinLnBrk="1"/>
            <a:r>
              <a:rPr lang="en-US" dirty="0"/>
              <a:t>ORDER_DATE_MET</a:t>
            </a:r>
          </a:p>
          <a:p>
            <a:pPr fontAlgn="base" latinLnBrk="1"/>
            <a:r>
              <a:rPr lang="en-US" dirty="0"/>
              <a:t>1.0    9010</a:t>
            </a:r>
          </a:p>
          <a:p>
            <a:pPr fontAlgn="base" latinLnBrk="1"/>
            <a:r>
              <a:rPr lang="en-US" dirty="0"/>
              <a:t>0.0     524</a:t>
            </a:r>
          </a:p>
          <a:p>
            <a:pPr fontAlgn="base" latinLnBrk="1"/>
            <a:r>
              <a:rPr lang="en-US" dirty="0"/>
              <a:t>On time delivery rate:94.503881%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22FABE-E964-43B8-9F65-87EB37DBF639}"/>
              </a:ext>
            </a:extLst>
          </p:cNvPr>
          <p:cNvSpPr txBox="1"/>
          <p:nvPr/>
        </p:nvSpPr>
        <p:spPr>
          <a:xfrm>
            <a:off x="245805" y="3117215"/>
            <a:ext cx="38345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Titan Inverter</a:t>
            </a:r>
          </a:p>
          <a:p>
            <a:pPr fontAlgn="base" latinLnBrk="1"/>
            <a:r>
              <a:rPr lang="en-US" dirty="0"/>
              <a:t>total number of  deliveries: 10419</a:t>
            </a:r>
          </a:p>
          <a:p>
            <a:pPr fontAlgn="base" latinLnBrk="1"/>
            <a:r>
              <a:rPr lang="en-US" dirty="0"/>
              <a:t>total number of on time deliveries: 8416</a:t>
            </a:r>
          </a:p>
          <a:p>
            <a:pPr fontAlgn="base" latinLnBrk="1"/>
            <a:r>
              <a:rPr lang="en-US" dirty="0"/>
              <a:t>ORDER_DATE_MET</a:t>
            </a:r>
          </a:p>
          <a:p>
            <a:pPr fontAlgn="base" latinLnBrk="1"/>
            <a:r>
              <a:rPr lang="en-US" dirty="0"/>
              <a:t>1.0    8416</a:t>
            </a:r>
          </a:p>
          <a:p>
            <a:pPr fontAlgn="base" latinLnBrk="1"/>
            <a:r>
              <a:rPr lang="en-US" dirty="0"/>
              <a:t>0.0    2003</a:t>
            </a:r>
          </a:p>
          <a:p>
            <a:pPr fontAlgn="base" latinLnBrk="1"/>
            <a:r>
              <a:rPr lang="en-US" dirty="0"/>
              <a:t>Name: count, </a:t>
            </a:r>
            <a:r>
              <a:rPr lang="en-US" dirty="0" err="1"/>
              <a:t>dtype</a:t>
            </a:r>
            <a:r>
              <a:rPr lang="en-US" dirty="0"/>
              <a:t>: int64</a:t>
            </a:r>
          </a:p>
          <a:p>
            <a:pPr fontAlgn="base" latinLnBrk="1"/>
            <a:r>
              <a:rPr lang="en-US" dirty="0">
                <a:highlight>
                  <a:srgbClr val="FFFF00"/>
                </a:highlight>
              </a:rPr>
              <a:t>On time delivery rate:80.775506%</a:t>
            </a:r>
          </a:p>
          <a:p>
            <a:pPr fontAlgn="base" latinLnBrk="1"/>
            <a:r>
              <a:rPr lang="en-US" dirty="0">
                <a:highlight>
                  <a:srgbClr val="FF00FF"/>
                </a:highlight>
              </a:rPr>
              <a:t>performance gap:-0.775506%</a:t>
            </a:r>
          </a:p>
          <a:p>
            <a:pPr fontAlgn="base" latinLnBrk="1"/>
            <a:r>
              <a:rPr lang="en-US" dirty="0">
                <a:highlight>
                  <a:srgbClr val="FF0000"/>
                </a:highlight>
              </a:rPr>
              <a:t>Revenue at Stake: Rs</a:t>
            </a:r>
            <a:r>
              <a:rPr lang="en-IN" dirty="0">
                <a:highlight>
                  <a:srgbClr val="FF0000"/>
                </a:highlight>
              </a:rPr>
              <a:t> 8,73,65,000.0</a:t>
            </a:r>
          </a:p>
          <a:p>
            <a:pPr fontAlgn="base" latinLnBrk="1"/>
            <a:endParaRPr lang="en-IN" dirty="0">
              <a:highlight>
                <a:srgbClr val="FF0000"/>
              </a:highlight>
            </a:endParaRPr>
          </a:p>
          <a:p>
            <a:pPr fontAlgn="base" latinLnBrk="1"/>
            <a:endParaRPr lang="en-US" dirty="0">
              <a:highlight>
                <a:srgbClr val="FF00FF"/>
              </a:highlight>
            </a:endParaRPr>
          </a:p>
          <a:p>
            <a:endParaRPr lang="en-I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185F26A-51A6-ADC4-3295-7825BA7F9753}"/>
              </a:ext>
            </a:extLst>
          </p:cNvPr>
          <p:cNvCxnSpPr/>
          <p:nvPr/>
        </p:nvCxnSpPr>
        <p:spPr>
          <a:xfrm>
            <a:off x="4699819" y="1504335"/>
            <a:ext cx="14650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2A09014-5749-186B-810D-00E5A6613197}"/>
              </a:ext>
            </a:extLst>
          </p:cNvPr>
          <p:cNvCxnSpPr>
            <a:cxnSpLocks/>
          </p:cNvCxnSpPr>
          <p:nvPr/>
        </p:nvCxnSpPr>
        <p:spPr>
          <a:xfrm>
            <a:off x="4581831" y="4395020"/>
            <a:ext cx="19467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E15CDA4-5628-1646-AD5D-726C83DE3D12}"/>
              </a:ext>
            </a:extLst>
          </p:cNvPr>
          <p:cNvSpPr txBox="1"/>
          <p:nvPr/>
        </p:nvSpPr>
        <p:spPr>
          <a:xfrm>
            <a:off x="7089058" y="973394"/>
            <a:ext cx="31168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AVG_ORDERED_QUANTITY= </a:t>
            </a:r>
            <a:r>
              <a:rPr lang="en-IN">
                <a:highlight>
                  <a:srgbClr val="808080"/>
                </a:highlight>
              </a:rPr>
              <a:t>556.909167</a:t>
            </a:r>
          </a:p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62148E-4BA3-A2F9-D316-A3174AFBEE43}"/>
              </a:ext>
            </a:extLst>
          </p:cNvPr>
          <p:cNvSpPr txBox="1"/>
          <p:nvPr/>
        </p:nvSpPr>
        <p:spPr>
          <a:xfrm>
            <a:off x="7433187" y="3618271"/>
            <a:ext cx="3028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AVG_ORDERED_QUANTITY= </a:t>
            </a:r>
            <a:r>
              <a:rPr lang="en-IN">
                <a:highlight>
                  <a:srgbClr val="808080"/>
                </a:highlight>
              </a:rPr>
              <a:t>4085.29724</a:t>
            </a:r>
          </a:p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FAB785-A3E0-1A11-1151-310DD834D931}"/>
              </a:ext>
            </a:extLst>
          </p:cNvPr>
          <p:cNvSpPr txBox="1"/>
          <p:nvPr/>
        </p:nvSpPr>
        <p:spPr>
          <a:xfrm>
            <a:off x="4434348" y="5083277"/>
            <a:ext cx="3854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roadway" panose="04040905080B02020502" pitchFamily="82" charset="0"/>
              </a:rPr>
              <a:t>Generates 97.1% of revenue</a:t>
            </a:r>
          </a:p>
          <a:p>
            <a:endParaRPr lang="en-I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EF7E48-B9B1-4D40-9AB0-65BCA5380319}"/>
              </a:ext>
            </a:extLst>
          </p:cNvPr>
          <p:cNvCxnSpPr/>
          <p:nvPr/>
        </p:nvCxnSpPr>
        <p:spPr>
          <a:xfrm flipH="1">
            <a:off x="3814915" y="5270089"/>
            <a:ext cx="4424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DF156410-9795-A624-84FE-8789A26F5B7D}"/>
              </a:ext>
            </a:extLst>
          </p:cNvPr>
          <p:cNvSpPr/>
          <p:nvPr/>
        </p:nvSpPr>
        <p:spPr>
          <a:xfrm>
            <a:off x="4340942" y="5009534"/>
            <a:ext cx="3647768" cy="521111"/>
          </a:xfrm>
          <a:prstGeom prst="ellipse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E8AC25-6D4D-3E14-31C9-1851C24C4EFD}"/>
              </a:ext>
            </a:extLst>
          </p:cNvPr>
          <p:cNvSpPr txBox="1"/>
          <p:nvPr/>
        </p:nvSpPr>
        <p:spPr>
          <a:xfrm>
            <a:off x="4080385" y="5575792"/>
            <a:ext cx="51521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Barely above threshold despite accounting for 97% of revenue, making it a high operational risk.”</a:t>
            </a:r>
            <a:endParaRPr lang="en-IN" b="1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BE5F881-90D5-BE32-8565-32EFC9676A94}"/>
              </a:ext>
            </a:extLst>
          </p:cNvPr>
          <p:cNvSpPr/>
          <p:nvPr/>
        </p:nvSpPr>
        <p:spPr>
          <a:xfrm>
            <a:off x="3696929" y="5439525"/>
            <a:ext cx="5535560" cy="995020"/>
          </a:xfrm>
          <a:prstGeom prst="ellipse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639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908AB4-F20C-D0A0-542D-C927BD386621}"/>
              </a:ext>
            </a:extLst>
          </p:cNvPr>
          <p:cNvSpPr txBox="1"/>
          <p:nvPr/>
        </p:nvSpPr>
        <p:spPr>
          <a:xfrm>
            <a:off x="226141" y="304800"/>
            <a:ext cx="41492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(C)</a:t>
            </a:r>
            <a:r>
              <a:rPr lang="en-IN" dirty="0">
                <a:latin typeface="Congenial Black" panose="02000503040000020004" pitchFamily="2" charset="0"/>
              </a:rPr>
              <a:t>FACTORY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Bengaluru</a:t>
            </a:r>
          </a:p>
          <a:p>
            <a:pPr fontAlgn="base" latinLnBrk="1"/>
            <a:r>
              <a:rPr lang="en-US" dirty="0"/>
              <a:t>total number of deliveries: 8138</a:t>
            </a:r>
          </a:p>
          <a:p>
            <a:pPr fontAlgn="base" latinLnBrk="1"/>
            <a:r>
              <a:rPr lang="en-US" dirty="0"/>
              <a:t>total number of on time deliveries: 7621</a:t>
            </a:r>
          </a:p>
          <a:p>
            <a:pPr fontAlgn="base" latinLnBrk="1"/>
            <a:r>
              <a:rPr lang="en-US" dirty="0"/>
              <a:t>ORDER_DATE_MET</a:t>
            </a:r>
          </a:p>
          <a:p>
            <a:pPr fontAlgn="base" latinLnBrk="1"/>
            <a:r>
              <a:rPr lang="en-US" dirty="0"/>
              <a:t>1.0    7621</a:t>
            </a:r>
          </a:p>
          <a:p>
            <a:pPr fontAlgn="base" latinLnBrk="1"/>
            <a:r>
              <a:rPr lang="en-US" dirty="0"/>
              <a:t>0.0     517</a:t>
            </a:r>
          </a:p>
          <a:p>
            <a:pPr fontAlgn="base" latinLnBrk="1"/>
            <a:r>
              <a:rPr lang="en-US" dirty="0"/>
              <a:t>On time delivery rate:93.647088%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BE4B74-DB9D-9E6E-561C-8DA883C19BD9}"/>
              </a:ext>
            </a:extLst>
          </p:cNvPr>
          <p:cNvSpPr txBox="1"/>
          <p:nvPr/>
        </p:nvSpPr>
        <p:spPr>
          <a:xfrm>
            <a:off x="216309" y="2753032"/>
            <a:ext cx="33134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Pune</a:t>
            </a:r>
          </a:p>
          <a:p>
            <a:pPr fontAlgn="base" latinLnBrk="1"/>
            <a:r>
              <a:rPr lang="en-US" dirty="0"/>
              <a:t>total number of deliveries: 9093</a:t>
            </a:r>
          </a:p>
          <a:p>
            <a:pPr fontAlgn="base" latinLnBrk="1"/>
            <a:r>
              <a:rPr lang="en-US" dirty="0"/>
              <a:t>total number of on time deliveries: 7441</a:t>
            </a:r>
          </a:p>
          <a:p>
            <a:pPr fontAlgn="base" latinLnBrk="1"/>
            <a:r>
              <a:rPr lang="en-US" dirty="0"/>
              <a:t>ORDER_DATE_MET</a:t>
            </a:r>
          </a:p>
          <a:p>
            <a:pPr fontAlgn="base" latinLnBrk="1"/>
            <a:r>
              <a:rPr lang="en-US" dirty="0"/>
              <a:t>1.0    7441</a:t>
            </a:r>
          </a:p>
          <a:p>
            <a:pPr fontAlgn="base" latinLnBrk="1"/>
            <a:r>
              <a:rPr lang="en-US" dirty="0"/>
              <a:t>0.0    1652</a:t>
            </a:r>
          </a:p>
          <a:p>
            <a:pPr fontAlgn="base" latinLnBrk="1"/>
            <a:r>
              <a:rPr lang="en-US" dirty="0">
                <a:highlight>
                  <a:srgbClr val="FFFF00"/>
                </a:highlight>
              </a:rPr>
              <a:t>On time delivery rate:81.832179%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0E3943-7B0E-9AB4-1A9B-3CA88701016C}"/>
              </a:ext>
            </a:extLst>
          </p:cNvPr>
          <p:cNvSpPr txBox="1"/>
          <p:nvPr/>
        </p:nvSpPr>
        <p:spPr>
          <a:xfrm>
            <a:off x="4296698" y="304800"/>
            <a:ext cx="48079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Hyderabad</a:t>
            </a:r>
          </a:p>
          <a:p>
            <a:pPr fontAlgn="base" latinLnBrk="1"/>
            <a:r>
              <a:rPr lang="en-US" dirty="0"/>
              <a:t>total number of deliveries: 1415</a:t>
            </a:r>
          </a:p>
          <a:p>
            <a:pPr fontAlgn="base" latinLnBrk="1"/>
            <a:r>
              <a:rPr lang="en-US" dirty="0"/>
              <a:t>total number of on time deliveries: 1230</a:t>
            </a:r>
          </a:p>
          <a:p>
            <a:pPr fontAlgn="base" latinLnBrk="1"/>
            <a:r>
              <a:rPr lang="en-US" dirty="0"/>
              <a:t>ORDER_DATE_MET</a:t>
            </a:r>
          </a:p>
          <a:p>
            <a:pPr fontAlgn="base" latinLnBrk="1"/>
            <a:r>
              <a:rPr lang="en-US" dirty="0"/>
              <a:t>1.0    1230</a:t>
            </a:r>
          </a:p>
          <a:p>
            <a:pPr fontAlgn="base" latinLnBrk="1"/>
            <a:r>
              <a:rPr lang="en-US" dirty="0"/>
              <a:t>0.0     185</a:t>
            </a:r>
          </a:p>
          <a:p>
            <a:pPr fontAlgn="base" latinLnBrk="1"/>
            <a:r>
              <a:rPr lang="en-US" dirty="0"/>
              <a:t>On time delivery rate:86.925795%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FFEF45-1C37-8BA2-7BBF-A65D049878FF}"/>
              </a:ext>
            </a:extLst>
          </p:cNvPr>
          <p:cNvSpPr txBox="1"/>
          <p:nvPr/>
        </p:nvSpPr>
        <p:spPr>
          <a:xfrm>
            <a:off x="4296698" y="2753032"/>
            <a:ext cx="34216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Bonn</a:t>
            </a:r>
          </a:p>
          <a:p>
            <a:pPr fontAlgn="base" latinLnBrk="1"/>
            <a:r>
              <a:rPr lang="en-US" dirty="0"/>
              <a:t>total number of deliveries: 1166</a:t>
            </a:r>
          </a:p>
          <a:p>
            <a:pPr fontAlgn="base" latinLnBrk="1"/>
            <a:r>
              <a:rPr lang="en-US" dirty="0"/>
              <a:t>total number of on time deliveries: 1007</a:t>
            </a:r>
          </a:p>
          <a:p>
            <a:pPr fontAlgn="base" latinLnBrk="1"/>
            <a:r>
              <a:rPr lang="en-US" dirty="0"/>
              <a:t>ORDER_DATE_MET</a:t>
            </a:r>
          </a:p>
          <a:p>
            <a:pPr fontAlgn="base" latinLnBrk="1"/>
            <a:r>
              <a:rPr lang="en-US" dirty="0"/>
              <a:t>1.0    1007</a:t>
            </a:r>
          </a:p>
          <a:p>
            <a:pPr fontAlgn="base" latinLnBrk="1"/>
            <a:r>
              <a:rPr lang="en-US" dirty="0"/>
              <a:t>0.0     159</a:t>
            </a:r>
          </a:p>
          <a:p>
            <a:pPr fontAlgn="base" latinLnBrk="1"/>
            <a:r>
              <a:rPr lang="en-US" dirty="0"/>
              <a:t>On time delivery rate:86.363636%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27DB82-7FBB-B390-2F59-03B18F20F50B}"/>
              </a:ext>
            </a:extLst>
          </p:cNvPr>
          <p:cNvSpPr txBox="1"/>
          <p:nvPr/>
        </p:nvSpPr>
        <p:spPr>
          <a:xfrm>
            <a:off x="8308258" y="39329"/>
            <a:ext cx="37952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Wuppertal</a:t>
            </a:r>
          </a:p>
          <a:p>
            <a:pPr fontAlgn="base" latinLnBrk="1"/>
            <a:r>
              <a:rPr lang="en-US" dirty="0"/>
              <a:t>total number of deliveries: 8</a:t>
            </a:r>
          </a:p>
          <a:p>
            <a:pPr fontAlgn="base" latinLnBrk="1"/>
            <a:r>
              <a:rPr lang="en-US" dirty="0"/>
              <a:t>total number of on time deliveries: 6</a:t>
            </a:r>
          </a:p>
          <a:p>
            <a:pPr fontAlgn="base" latinLnBrk="1"/>
            <a:r>
              <a:rPr lang="en-US" dirty="0"/>
              <a:t>ORDER_DATE_MET</a:t>
            </a:r>
          </a:p>
          <a:p>
            <a:pPr fontAlgn="base" latinLnBrk="1"/>
            <a:r>
              <a:rPr lang="en-US" dirty="0"/>
              <a:t>1.0    6</a:t>
            </a:r>
          </a:p>
          <a:p>
            <a:pPr fontAlgn="base" latinLnBrk="1"/>
            <a:r>
              <a:rPr lang="en-US" dirty="0"/>
              <a:t>0.0    2</a:t>
            </a:r>
          </a:p>
          <a:p>
            <a:pPr fontAlgn="base" latinLnBrk="1"/>
            <a:r>
              <a:rPr lang="en-US" dirty="0"/>
              <a:t>On time delivery rate:75.000000%</a:t>
            </a:r>
          </a:p>
          <a:p>
            <a:pPr fontAlgn="base" latinLnBrk="1"/>
            <a:endParaRPr lang="en-US" dirty="0">
              <a:highlight>
                <a:srgbClr val="FF00FF"/>
              </a:highlight>
            </a:endParaRP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9E3E69-1D95-D303-13AF-A70910E894EE}"/>
              </a:ext>
            </a:extLst>
          </p:cNvPr>
          <p:cNvSpPr txBox="1"/>
          <p:nvPr/>
        </p:nvSpPr>
        <p:spPr>
          <a:xfrm>
            <a:off x="8308258" y="2753032"/>
            <a:ext cx="35396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Duisburg</a:t>
            </a:r>
          </a:p>
          <a:p>
            <a:pPr fontAlgn="base" latinLnBrk="1"/>
            <a:r>
              <a:rPr lang="en-US" dirty="0"/>
              <a:t>total number of deliveries: 133</a:t>
            </a:r>
          </a:p>
          <a:p>
            <a:pPr fontAlgn="base" latinLnBrk="1"/>
            <a:r>
              <a:rPr lang="en-US" dirty="0"/>
              <a:t>total number of on time deliveries: 121</a:t>
            </a:r>
          </a:p>
          <a:p>
            <a:pPr fontAlgn="base" latinLnBrk="1"/>
            <a:r>
              <a:rPr lang="en-US" dirty="0"/>
              <a:t>ORDER_DATE_MET</a:t>
            </a:r>
          </a:p>
          <a:p>
            <a:pPr fontAlgn="base" latinLnBrk="1"/>
            <a:r>
              <a:rPr lang="en-US" dirty="0"/>
              <a:t>1.0    121</a:t>
            </a:r>
          </a:p>
          <a:p>
            <a:pPr fontAlgn="base" latinLnBrk="1"/>
            <a:r>
              <a:rPr lang="en-US" dirty="0"/>
              <a:t>0.0     12</a:t>
            </a:r>
          </a:p>
          <a:p>
            <a:pPr fontAlgn="base" latinLnBrk="1"/>
            <a:r>
              <a:rPr lang="en-US" dirty="0"/>
              <a:t>On time delivery rate:90.977444%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737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D2B6E8-D723-B5E5-7391-EEB94E9AE437}"/>
              </a:ext>
            </a:extLst>
          </p:cNvPr>
          <p:cNvSpPr txBox="1"/>
          <p:nvPr/>
        </p:nvSpPr>
        <p:spPr>
          <a:xfrm>
            <a:off x="324465" y="452284"/>
            <a:ext cx="43360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(D)</a:t>
            </a:r>
            <a:r>
              <a:rPr lang="en-IN" dirty="0">
                <a:latin typeface="Congenial Black" panose="02000503040000020004" pitchFamily="2" charset="0"/>
              </a:rPr>
              <a:t>CUST_MARKET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Retail</a:t>
            </a:r>
          </a:p>
          <a:p>
            <a:pPr fontAlgn="base" latinLnBrk="1"/>
            <a:r>
              <a:rPr lang="en-US" dirty="0"/>
              <a:t>total number of deliveries: 11924</a:t>
            </a:r>
          </a:p>
          <a:p>
            <a:pPr fontAlgn="base" latinLnBrk="1"/>
            <a:r>
              <a:rPr lang="en-US" dirty="0"/>
              <a:t>total number of on time deliveries: 11107</a:t>
            </a:r>
          </a:p>
          <a:p>
            <a:pPr fontAlgn="base" latinLnBrk="1"/>
            <a:r>
              <a:rPr lang="en-US" dirty="0"/>
              <a:t>ORDER_DATE_MET</a:t>
            </a:r>
          </a:p>
          <a:p>
            <a:pPr fontAlgn="base" latinLnBrk="1"/>
            <a:r>
              <a:rPr lang="en-US" dirty="0"/>
              <a:t>1.0    11107</a:t>
            </a:r>
          </a:p>
          <a:p>
            <a:pPr fontAlgn="base" latinLnBrk="1"/>
            <a:r>
              <a:rPr lang="en-US" dirty="0"/>
              <a:t>0.0      817</a:t>
            </a:r>
          </a:p>
          <a:p>
            <a:pPr fontAlgn="base" latinLnBrk="1"/>
            <a:r>
              <a:rPr lang="en-US" dirty="0"/>
              <a:t>On time delivery rate:93.148272%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74584A-9723-093D-E30A-DB0A7800EA84}"/>
              </a:ext>
            </a:extLst>
          </p:cNvPr>
          <p:cNvSpPr txBox="1"/>
          <p:nvPr/>
        </p:nvSpPr>
        <p:spPr>
          <a:xfrm>
            <a:off x="324465" y="3156155"/>
            <a:ext cx="41197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Transportation</a:t>
            </a:r>
          </a:p>
          <a:p>
            <a:pPr fontAlgn="base" latinLnBrk="1"/>
            <a:r>
              <a:rPr lang="en-US" dirty="0"/>
              <a:t>total number of deliveries: 6092</a:t>
            </a:r>
          </a:p>
          <a:p>
            <a:pPr fontAlgn="base" latinLnBrk="1"/>
            <a:r>
              <a:rPr lang="en-US" dirty="0"/>
              <a:t>total number of on time deliveries: 4736</a:t>
            </a:r>
          </a:p>
          <a:p>
            <a:pPr fontAlgn="base" latinLnBrk="1"/>
            <a:r>
              <a:rPr lang="en-US" dirty="0"/>
              <a:t>ORDER_DATE_MET</a:t>
            </a:r>
          </a:p>
          <a:p>
            <a:pPr fontAlgn="base" latinLnBrk="1"/>
            <a:r>
              <a:rPr lang="en-US" dirty="0"/>
              <a:t>1.0    4736</a:t>
            </a:r>
          </a:p>
          <a:p>
            <a:pPr fontAlgn="base" latinLnBrk="1"/>
            <a:r>
              <a:rPr lang="en-US" dirty="0"/>
              <a:t>0.0    1356</a:t>
            </a:r>
          </a:p>
          <a:p>
            <a:pPr fontAlgn="base" latinLnBrk="1"/>
            <a:r>
              <a:rPr lang="en-US" dirty="0">
                <a:highlight>
                  <a:srgbClr val="FFFF00"/>
                </a:highlight>
              </a:rPr>
              <a:t>On time delivery rate:77.741300%</a:t>
            </a:r>
          </a:p>
          <a:p>
            <a:pPr fontAlgn="base" latinLnBrk="1"/>
            <a:r>
              <a:rPr lang="en-US" dirty="0">
                <a:highlight>
                  <a:srgbClr val="FF00FF"/>
                </a:highlight>
              </a:rPr>
              <a:t>performance gap:2.258700%</a:t>
            </a:r>
          </a:p>
          <a:p>
            <a:pPr fontAlgn="base" latinLnBrk="1"/>
            <a:r>
              <a:rPr lang="en-US" dirty="0">
                <a:highlight>
                  <a:srgbClr val="FF0000"/>
                </a:highlight>
              </a:rPr>
              <a:t>Revenue at stake: Rs</a:t>
            </a:r>
            <a:r>
              <a:rPr lang="en-IN" dirty="0">
                <a:highlight>
                  <a:srgbClr val="FF0000"/>
                </a:highlight>
              </a:rPr>
              <a:t> 6,14,20,000.0</a:t>
            </a:r>
          </a:p>
          <a:p>
            <a:pPr fontAlgn="base" latinLnBrk="1"/>
            <a:endParaRPr lang="en-IN" dirty="0">
              <a:highlight>
                <a:srgbClr val="FF0000"/>
              </a:highlight>
            </a:endParaRPr>
          </a:p>
          <a:p>
            <a:pPr fontAlgn="base" latinLnBrk="1"/>
            <a:endParaRPr lang="en-US" dirty="0">
              <a:highlight>
                <a:srgbClr val="FF00FF"/>
              </a:highlight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930463-603F-C2E0-050D-DDEFC81720C6}"/>
              </a:ext>
            </a:extLst>
          </p:cNvPr>
          <p:cNvSpPr txBox="1"/>
          <p:nvPr/>
        </p:nvSpPr>
        <p:spPr>
          <a:xfrm>
            <a:off x="5574890" y="452284"/>
            <a:ext cx="48473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Construction</a:t>
            </a:r>
          </a:p>
          <a:p>
            <a:pPr fontAlgn="base" latinLnBrk="1"/>
            <a:r>
              <a:rPr lang="en-US" dirty="0"/>
              <a:t>total number of deliveries: 1683</a:t>
            </a:r>
          </a:p>
          <a:p>
            <a:pPr fontAlgn="base" latinLnBrk="1"/>
            <a:r>
              <a:rPr lang="en-US" dirty="0"/>
              <a:t>total number of on time deliveries: 1368</a:t>
            </a:r>
          </a:p>
          <a:p>
            <a:pPr fontAlgn="base" latinLnBrk="1"/>
            <a:r>
              <a:rPr lang="en-US" dirty="0"/>
              <a:t>ORDER_DATE_MET</a:t>
            </a:r>
          </a:p>
          <a:p>
            <a:pPr fontAlgn="base" latinLnBrk="1"/>
            <a:r>
              <a:rPr lang="en-US" dirty="0"/>
              <a:t>1.0    1368</a:t>
            </a:r>
          </a:p>
          <a:p>
            <a:pPr fontAlgn="base" latinLnBrk="1"/>
            <a:r>
              <a:rPr lang="en-US" dirty="0"/>
              <a:t>0.0     315</a:t>
            </a:r>
          </a:p>
          <a:p>
            <a:pPr fontAlgn="base" latinLnBrk="1"/>
            <a:r>
              <a:rPr lang="en-US" dirty="0"/>
              <a:t>On time delivery rate:81.283422%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449695-1696-9FEA-FB5A-20538386C1D4}"/>
              </a:ext>
            </a:extLst>
          </p:cNvPr>
          <p:cNvSpPr txBox="1"/>
          <p:nvPr/>
        </p:nvSpPr>
        <p:spPr>
          <a:xfrm>
            <a:off x="5358581" y="3254477"/>
            <a:ext cx="55945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Other</a:t>
            </a:r>
          </a:p>
          <a:p>
            <a:pPr fontAlgn="base" latinLnBrk="1"/>
            <a:r>
              <a:rPr lang="en-US" dirty="0"/>
              <a:t>total number of deliveries: 254</a:t>
            </a:r>
          </a:p>
          <a:p>
            <a:pPr fontAlgn="base" latinLnBrk="1"/>
            <a:r>
              <a:rPr lang="en-US" dirty="0"/>
              <a:t>total number of on time deliveries: 215</a:t>
            </a:r>
          </a:p>
          <a:p>
            <a:pPr fontAlgn="base" latinLnBrk="1"/>
            <a:r>
              <a:rPr lang="en-US" dirty="0"/>
              <a:t>ORDER_DATE_MET</a:t>
            </a:r>
          </a:p>
          <a:p>
            <a:pPr fontAlgn="base" latinLnBrk="1"/>
            <a:r>
              <a:rPr lang="en-US" dirty="0"/>
              <a:t>1.0    215</a:t>
            </a:r>
          </a:p>
          <a:p>
            <a:pPr fontAlgn="base" latinLnBrk="1"/>
            <a:r>
              <a:rPr lang="en-US" dirty="0"/>
              <a:t>0.0     39</a:t>
            </a:r>
          </a:p>
          <a:p>
            <a:pPr fontAlgn="base" latinLnBrk="1"/>
            <a:r>
              <a:rPr lang="en-US" dirty="0"/>
              <a:t>On time delivery rate:84.645669%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2614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7BD39C-3703-1C04-B1E7-B6F960659B91}"/>
              </a:ext>
            </a:extLst>
          </p:cNvPr>
          <p:cNvSpPr txBox="1"/>
          <p:nvPr/>
        </p:nvSpPr>
        <p:spPr>
          <a:xfrm>
            <a:off x="334297" y="1081548"/>
            <a:ext cx="4817806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roadway" panose="04040905080B02020502" pitchFamily="82" charset="0"/>
              </a:rPr>
              <a:t>Diagnosis</a:t>
            </a:r>
          </a:p>
          <a:p>
            <a:endParaRPr lang="en-US" sz="3200" b="1" dirty="0">
              <a:latin typeface="Broadway" panose="04040905080B02020502" pitchFamily="82" charset="0"/>
            </a:endParaRPr>
          </a:p>
          <a:p>
            <a:r>
              <a:rPr lang="en-US" dirty="0"/>
              <a:t>The biggest OTD failures are driven by:</a:t>
            </a:r>
          </a:p>
          <a:p>
            <a:endParaRPr lang="en-US" dirty="0"/>
          </a:p>
          <a:p>
            <a:r>
              <a:rPr lang="en-US" b="1" dirty="0" err="1"/>
              <a:t>Delhivery</a:t>
            </a:r>
            <a:r>
              <a:rPr lang="en-US" b="1" dirty="0"/>
              <a:t> (52%)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Transportation segment (77.7%)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Titan inverter (80.7% — barely meeting target and huge revenue exposure)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9817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C986A8-787B-C6FB-018D-35B64BE8C8C7}"/>
              </a:ext>
            </a:extLst>
          </p:cNvPr>
          <p:cNvSpPr txBox="1"/>
          <p:nvPr/>
        </p:nvSpPr>
        <p:spPr>
          <a:xfrm>
            <a:off x="717755" y="806245"/>
            <a:ext cx="845574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                                              OTD BELOW TARGET</a:t>
            </a:r>
            <a:r>
              <a:rPr lang="en-IN" dirty="0"/>
              <a:t> </a:t>
            </a:r>
            <a:r>
              <a:rPr lang="en-IN" b="1" dirty="0"/>
              <a:t>(80%)</a:t>
            </a:r>
          </a:p>
          <a:p>
            <a:r>
              <a:rPr lang="en-IN" dirty="0"/>
              <a:t>                                                                     </a:t>
            </a:r>
          </a:p>
          <a:p>
            <a:r>
              <a:rPr lang="en-IN" dirty="0"/>
              <a:t>             </a:t>
            </a:r>
          </a:p>
          <a:p>
            <a:r>
              <a:rPr lang="en-IN" dirty="0"/>
              <a:t>             </a:t>
            </a:r>
          </a:p>
          <a:p>
            <a:r>
              <a:rPr lang="en-IN" dirty="0"/>
              <a:t>                    DELIVERY ISSUE      PRODUCT/FACTORY       CUSTOMER ISSUE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                                </a:t>
            </a:r>
            <a:r>
              <a:rPr lang="en-IN" dirty="0" err="1"/>
              <a:t>Delhivery</a:t>
            </a:r>
            <a:r>
              <a:rPr lang="en-IN" dirty="0"/>
              <a:t>            Titan </a:t>
            </a:r>
            <a:r>
              <a:rPr lang="en-IN"/>
              <a:t>Inverter               </a:t>
            </a:r>
            <a:r>
              <a:rPr lang="en-IN" dirty="0"/>
              <a:t>Transportation</a:t>
            </a:r>
          </a:p>
          <a:p>
            <a:r>
              <a:rPr lang="en-IN" dirty="0"/>
              <a:t>                                   OTD = 52%            High volume                 OTD = 77.7%</a:t>
            </a:r>
          </a:p>
          <a:p>
            <a:r>
              <a:rPr lang="en-IN" dirty="0"/>
              <a:t>                                   Biggest gap          Pune dependency      Bulk urgent orders?</a:t>
            </a:r>
          </a:p>
          <a:p>
            <a:r>
              <a:rPr lang="en-IN" dirty="0"/>
              <a:t>                                                                     Capacity issue?            Tight deadlines?</a:t>
            </a:r>
          </a:p>
          <a:p>
            <a:r>
              <a:rPr lang="en-IN" dirty="0"/>
              <a:t>                                                                      SKU complexity?  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BF7491-8C70-4019-6472-F48DE29A00FF}"/>
              </a:ext>
            </a:extLst>
          </p:cNvPr>
          <p:cNvCxnSpPr>
            <a:cxnSpLocks/>
          </p:cNvCxnSpPr>
          <p:nvPr/>
        </p:nvCxnSpPr>
        <p:spPr>
          <a:xfrm>
            <a:off x="2349910" y="1563329"/>
            <a:ext cx="41885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DA3668-18C0-C6CE-CA7A-B53F3E9AA5B3}"/>
              </a:ext>
            </a:extLst>
          </p:cNvPr>
          <p:cNvCxnSpPr/>
          <p:nvPr/>
        </p:nvCxnSpPr>
        <p:spPr>
          <a:xfrm>
            <a:off x="4100052" y="1091381"/>
            <a:ext cx="0" cy="4719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715386-380D-E50C-F4B7-811666C56054}"/>
              </a:ext>
            </a:extLst>
          </p:cNvPr>
          <p:cNvCxnSpPr/>
          <p:nvPr/>
        </p:nvCxnSpPr>
        <p:spPr>
          <a:xfrm>
            <a:off x="2349910" y="1563329"/>
            <a:ext cx="0" cy="4227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899E0E-2CC4-773C-5DD1-D135806602DB}"/>
              </a:ext>
            </a:extLst>
          </p:cNvPr>
          <p:cNvCxnSpPr/>
          <p:nvPr/>
        </p:nvCxnSpPr>
        <p:spPr>
          <a:xfrm>
            <a:off x="4100052" y="1563329"/>
            <a:ext cx="0" cy="4227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6B504A7-2667-8C20-0928-A483E3A12696}"/>
              </a:ext>
            </a:extLst>
          </p:cNvPr>
          <p:cNvCxnSpPr/>
          <p:nvPr/>
        </p:nvCxnSpPr>
        <p:spPr>
          <a:xfrm>
            <a:off x="6538452" y="1563329"/>
            <a:ext cx="0" cy="4227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A299BFA-36BC-B806-588F-8EE209446544}"/>
              </a:ext>
            </a:extLst>
          </p:cNvPr>
          <p:cNvCxnSpPr/>
          <p:nvPr/>
        </p:nvCxnSpPr>
        <p:spPr>
          <a:xfrm>
            <a:off x="2713703" y="2212258"/>
            <a:ext cx="0" cy="5702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6B388AF-AB70-0BBD-536F-04BE648080D0}"/>
              </a:ext>
            </a:extLst>
          </p:cNvPr>
          <p:cNvCxnSpPr/>
          <p:nvPr/>
        </p:nvCxnSpPr>
        <p:spPr>
          <a:xfrm>
            <a:off x="4100052" y="2212258"/>
            <a:ext cx="0" cy="5702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6DB77FF-CB5E-F292-D46E-F35AA8A054F9}"/>
              </a:ext>
            </a:extLst>
          </p:cNvPr>
          <p:cNvCxnSpPr/>
          <p:nvPr/>
        </p:nvCxnSpPr>
        <p:spPr>
          <a:xfrm>
            <a:off x="6341806" y="2212258"/>
            <a:ext cx="0" cy="5702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E651A0A-E009-37AB-9909-F88A57A66AED}"/>
              </a:ext>
            </a:extLst>
          </p:cNvPr>
          <p:cNvCxnSpPr/>
          <p:nvPr/>
        </p:nvCxnSpPr>
        <p:spPr>
          <a:xfrm>
            <a:off x="2713703" y="2212258"/>
            <a:ext cx="36281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0E592B4-FEA3-ABAE-6896-FD40673A6659}"/>
              </a:ext>
            </a:extLst>
          </p:cNvPr>
          <p:cNvSpPr/>
          <p:nvPr/>
        </p:nvSpPr>
        <p:spPr>
          <a:xfrm>
            <a:off x="1258529" y="511277"/>
            <a:ext cx="7728155" cy="5053781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596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726F-A4F5-2F3F-9A84-73D8864FA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Congenial Black" panose="02000503040000020004" pitchFamily="2" charset="0"/>
              </a:rPr>
              <a:t>PRIORITY MAP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1AE276-4F9A-C092-8939-FAD2FC5E18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0595831"/>
              </p:ext>
            </p:extLst>
          </p:nvPr>
        </p:nvGraphicFramePr>
        <p:xfrm>
          <a:off x="393290" y="1219200"/>
          <a:ext cx="10960510" cy="5506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4920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A941DD-D11E-62B7-1FDD-CEB47E6BD894}"/>
              </a:ext>
            </a:extLst>
          </p:cNvPr>
          <p:cNvSpPr txBox="1"/>
          <p:nvPr/>
        </p:nvSpPr>
        <p:spPr>
          <a:xfrm>
            <a:off x="255639" y="1170039"/>
            <a:ext cx="1047135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TITAN INVERTER should definitely be continued</a:t>
            </a:r>
            <a:r>
              <a:rPr lang="en-US" dirty="0"/>
              <a:t>, but with strategic improvements.</a:t>
            </a:r>
          </a:p>
          <a:p>
            <a:r>
              <a:rPr lang="en-US" dirty="0"/>
              <a:t>Despite its poor OTD: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Generates </a:t>
            </a:r>
            <a:r>
              <a:rPr lang="en-US" b="1" dirty="0">
                <a:highlight>
                  <a:srgbClr val="FF00FF"/>
                </a:highlight>
              </a:rPr>
              <a:t>more revenue</a:t>
            </a:r>
            <a:r>
              <a:rPr lang="en-US" dirty="0">
                <a:highlight>
                  <a:srgbClr val="FF00FF"/>
                </a:highlight>
              </a:rPr>
              <a:t> </a:t>
            </a:r>
            <a:r>
              <a:rPr lang="en-US" dirty="0"/>
              <a:t>due to higher </a:t>
            </a:r>
            <a:r>
              <a:rPr lang="en-US" dirty="0">
                <a:highlight>
                  <a:srgbClr val="FF00FF"/>
                </a:highlight>
              </a:rPr>
              <a:t>AOV(</a:t>
            </a:r>
            <a:r>
              <a:rPr lang="en-IN" dirty="0">
                <a:highlight>
                  <a:srgbClr val="FF00FF"/>
                </a:highlight>
              </a:rPr>
              <a:t>6.878653e+07</a:t>
            </a:r>
            <a:r>
              <a:rPr lang="en-US" dirty="0">
                <a:highlight>
                  <a:srgbClr val="FF00FF"/>
                </a:highlight>
              </a:rPr>
              <a:t>) </a:t>
            </a:r>
            <a:r>
              <a:rPr lang="en-US" dirty="0"/>
              <a:t>and </a:t>
            </a:r>
            <a:r>
              <a:rPr lang="en-US" dirty="0">
                <a:highlight>
                  <a:srgbClr val="FF00FF"/>
                </a:highlight>
              </a:rPr>
              <a:t>order volumes(avg </a:t>
            </a:r>
            <a:r>
              <a:rPr lang="en-IN" dirty="0">
                <a:highlight>
                  <a:srgbClr val="FF00FF"/>
                </a:highlight>
              </a:rPr>
              <a:t>4085.297245</a:t>
            </a:r>
            <a:r>
              <a:rPr lang="en-US" dirty="0"/>
              <a:t>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Likely contributes </a:t>
            </a:r>
            <a:r>
              <a:rPr lang="en-US" b="1" dirty="0">
                <a:highlight>
                  <a:srgbClr val="FF00FF"/>
                </a:highlight>
              </a:rPr>
              <a:t>more to overall profit</a:t>
            </a:r>
            <a:r>
              <a:rPr lang="en-US" dirty="0"/>
              <a:t>, given its lower production cost(</a:t>
            </a:r>
            <a:r>
              <a:rPr lang="en-US" dirty="0">
                <a:highlight>
                  <a:srgbClr val="FF00FF"/>
                </a:highlight>
              </a:rPr>
              <a:t>Rs 488/unit</a:t>
            </a:r>
            <a:r>
              <a:rPr lang="en-US" dirty="0"/>
              <a:t>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Represents a </a:t>
            </a:r>
            <a:r>
              <a:rPr lang="en-US" b="1" dirty="0">
                <a:highlight>
                  <a:srgbClr val="FF00FF"/>
                </a:highlight>
              </a:rPr>
              <a:t>high-value customer demand</a:t>
            </a:r>
            <a:r>
              <a:rPr lang="en-US" dirty="0"/>
              <a:t>, meaning discontinuing it could significantly impact business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However, the </a:t>
            </a:r>
            <a:r>
              <a:rPr lang="en-US" b="1" dirty="0">
                <a:highlight>
                  <a:srgbClr val="FF00FF"/>
                </a:highlight>
              </a:rPr>
              <a:t>low OTD is a critical risk</a:t>
            </a:r>
            <a:r>
              <a:rPr lang="en-US" dirty="0"/>
              <a:t>. Poor delivery performance can lead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Penalties or compensation costs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Damage to brand reputation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Loss of future revenue</a:t>
            </a:r>
          </a:p>
        </p:txBody>
      </p:sp>
    </p:spTree>
    <p:extLst>
      <p:ext uri="{BB962C8B-B14F-4D97-AF65-F5344CB8AC3E}">
        <p14:creationId xmlns:p14="http://schemas.microsoft.com/office/powerpoint/2010/main" val="866723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80D6CF-F9CB-9204-C22D-34EA3F5E2DD0}"/>
              </a:ext>
            </a:extLst>
          </p:cNvPr>
          <p:cNvSpPr txBox="1"/>
          <p:nvPr/>
        </p:nvSpPr>
        <p:spPr>
          <a:xfrm>
            <a:off x="403122" y="481781"/>
            <a:ext cx="56928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Broadway" panose="04040905080B02020502" pitchFamily="82" charset="0"/>
              </a:rPr>
              <a:t>Correlation ≠ causation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2372CB-461E-0B77-2441-AFA18C4D2325}"/>
              </a:ext>
            </a:extLst>
          </p:cNvPr>
          <p:cNvSpPr txBox="1"/>
          <p:nvPr/>
        </p:nvSpPr>
        <p:spPr>
          <a:xfrm>
            <a:off x="226142" y="1533832"/>
            <a:ext cx="4355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a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routing logic system</a:t>
            </a: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268A6-C583-8A86-69B6-7A1A2BB273BB}"/>
              </a:ext>
            </a:extLst>
          </p:cNvPr>
          <p:cNvSpPr txBox="1"/>
          <p:nvPr/>
        </p:nvSpPr>
        <p:spPr>
          <a:xfrm>
            <a:off x="294968" y="2202426"/>
            <a:ext cx="443434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High-priority transportation clients</a:t>
            </a:r>
          </a:p>
          <a:p>
            <a:r>
              <a:rPr lang="en-US" dirty="0"/>
              <a:t>→ </a:t>
            </a:r>
            <a:r>
              <a:rPr lang="en-US" dirty="0" err="1"/>
              <a:t>BlueDart</a:t>
            </a:r>
            <a:r>
              <a:rPr lang="en-US" dirty="0"/>
              <a:t> only</a:t>
            </a:r>
          </a:p>
          <a:p>
            <a:endParaRPr lang="en-US" dirty="0"/>
          </a:p>
          <a:p>
            <a:r>
              <a:rPr lang="en-US" b="1" dirty="0"/>
              <a:t>Medium priority</a:t>
            </a:r>
          </a:p>
          <a:p>
            <a:r>
              <a:rPr lang="en-US" dirty="0"/>
              <a:t>→ split</a:t>
            </a:r>
          </a:p>
          <a:p>
            <a:endParaRPr lang="en-US" dirty="0"/>
          </a:p>
          <a:p>
            <a:r>
              <a:rPr lang="en-US" b="1" dirty="0"/>
              <a:t>Low urgency</a:t>
            </a:r>
          </a:p>
          <a:p>
            <a:r>
              <a:rPr lang="en-US" dirty="0"/>
              <a:t>→ </a:t>
            </a:r>
            <a:r>
              <a:rPr lang="en-US" dirty="0" err="1"/>
              <a:t>Delhivery</a:t>
            </a:r>
            <a:endParaRPr lang="en-US" dirty="0"/>
          </a:p>
          <a:p>
            <a:endParaRPr lang="en-US" dirty="0"/>
          </a:p>
          <a:p>
            <a:r>
              <a:rPr lang="en-US" dirty="0"/>
              <a:t>Basically: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smart allocation instead of total replacement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E09179-DA34-1C6C-F099-4B014139D5F8}"/>
              </a:ext>
            </a:extLst>
          </p:cNvPr>
          <p:cNvSpPr txBox="1"/>
          <p:nvPr/>
        </p:nvSpPr>
        <p:spPr>
          <a:xfrm>
            <a:off x="294968" y="5560398"/>
            <a:ext cx="4365522" cy="120032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lower cost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less dependency on one partner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avoids operational disruption 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9AEB22-6341-B094-06CE-6B9A6CB8A025}"/>
              </a:ext>
            </a:extLst>
          </p:cNvPr>
          <p:cNvSpPr txBox="1"/>
          <p:nvPr/>
        </p:nvSpPr>
        <p:spPr>
          <a:xfrm>
            <a:off x="6587612" y="1376516"/>
            <a:ext cx="453267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Factory specialization</a:t>
            </a:r>
          </a:p>
          <a:p>
            <a:endParaRPr lang="en-US" dirty="0"/>
          </a:p>
          <a:p>
            <a:r>
              <a:rPr lang="en-US" b="1" dirty="0"/>
              <a:t>Pune:</a:t>
            </a:r>
            <a:br>
              <a:rPr lang="en-US" dirty="0"/>
            </a:br>
            <a:r>
              <a:rPr lang="en-US" dirty="0"/>
              <a:t>→ Titan only</a:t>
            </a:r>
          </a:p>
          <a:p>
            <a:endParaRPr lang="en-US" dirty="0"/>
          </a:p>
          <a:p>
            <a:r>
              <a:rPr lang="en-US" b="1" dirty="0"/>
              <a:t>Bengaluru:</a:t>
            </a:r>
            <a:br>
              <a:rPr lang="en-US" dirty="0"/>
            </a:br>
            <a:r>
              <a:rPr lang="en-US" dirty="0"/>
              <a:t>→ Eco-battery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9F4CFA-EE7A-2C73-A6FF-2A3B6A174581}"/>
              </a:ext>
            </a:extLst>
          </p:cNvPr>
          <p:cNvSpPr txBox="1"/>
          <p:nvPr/>
        </p:nvSpPr>
        <p:spPr>
          <a:xfrm>
            <a:off x="6685935" y="3878373"/>
            <a:ext cx="4434348" cy="120032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Less production complexity.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Fewer SKU switches.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operational efficiency.</a:t>
            </a:r>
          </a:p>
          <a:p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BBAC47-C570-1577-C4A3-192DDF8D2B18}"/>
              </a:ext>
            </a:extLst>
          </p:cNvPr>
          <p:cNvSpPr/>
          <p:nvPr/>
        </p:nvSpPr>
        <p:spPr>
          <a:xfrm>
            <a:off x="226142" y="5078702"/>
            <a:ext cx="3952568" cy="1346678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7007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67E70F-F260-6717-E501-1D6E1E349CAB}"/>
              </a:ext>
            </a:extLst>
          </p:cNvPr>
          <p:cNvSpPr txBox="1"/>
          <p:nvPr/>
        </p:nvSpPr>
        <p:spPr>
          <a:xfrm>
            <a:off x="766916" y="688258"/>
            <a:ext cx="5771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customer-tier strategy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3CEE0-7752-DE54-B553-6361474FE536}"/>
              </a:ext>
            </a:extLst>
          </p:cNvPr>
          <p:cNvSpPr txBox="1"/>
          <p:nvPr/>
        </p:nvSpPr>
        <p:spPr>
          <a:xfrm>
            <a:off x="766916" y="1305341"/>
            <a:ext cx="458183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Tier 1: Strategic accounts</a:t>
            </a:r>
          </a:p>
          <a:p>
            <a:r>
              <a:rPr lang="en-US" dirty="0"/>
              <a:t>(Tata Power, NTPC)</a:t>
            </a:r>
          </a:p>
          <a:p>
            <a:r>
              <a:rPr lang="en-US" dirty="0"/>
              <a:t>Highest service level</a:t>
            </a:r>
          </a:p>
          <a:p>
            <a:r>
              <a:rPr lang="en-US" dirty="0"/>
              <a:t>Dedicated transport capacity.</a:t>
            </a:r>
          </a:p>
          <a:p>
            <a:r>
              <a:rPr lang="en-US" dirty="0"/>
              <a:t>Penalty prevention first.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Tier 2: Growth clients</a:t>
            </a:r>
          </a:p>
          <a:p>
            <a:r>
              <a:rPr lang="en-US" dirty="0"/>
              <a:t>Moderate prioritization.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Tier 3: Smaller clients</a:t>
            </a:r>
          </a:p>
          <a:p>
            <a:r>
              <a:rPr lang="en-US" dirty="0"/>
              <a:t>Flexible delivery windows.</a:t>
            </a:r>
          </a:p>
          <a:p>
            <a:r>
              <a:rPr lang="en-US" dirty="0"/>
              <a:t>This is smart because: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86056-2A4E-09C9-D807-4417AFD7F64C}"/>
              </a:ext>
            </a:extLst>
          </p:cNvPr>
          <p:cNvSpPr txBox="1"/>
          <p:nvPr/>
        </p:nvSpPr>
        <p:spPr>
          <a:xfrm>
            <a:off x="7472515" y="2153265"/>
            <a:ext cx="31463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Broadway" panose="04040905080B02020502" pitchFamily="82" charset="0"/>
              </a:rPr>
              <a:t>80/20 rule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C3E3865-29BB-C8D4-96C9-883A61C003F5}"/>
              </a:ext>
            </a:extLst>
          </p:cNvPr>
          <p:cNvSpPr/>
          <p:nvPr/>
        </p:nvSpPr>
        <p:spPr>
          <a:xfrm>
            <a:off x="6636774" y="2084439"/>
            <a:ext cx="4581832" cy="1081548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432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2A8CD9-D69E-C4EA-D6B5-50EEFD2E8D82}"/>
              </a:ext>
            </a:extLst>
          </p:cNvPr>
          <p:cNvSpPr txBox="1"/>
          <p:nvPr/>
        </p:nvSpPr>
        <p:spPr>
          <a:xfrm>
            <a:off x="737419" y="658761"/>
            <a:ext cx="883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Aptos Slab Black" panose="020B0004020202020204" pitchFamily="34" charset="0"/>
              </a:rPr>
              <a:t>Are customers causing delay?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D06B3E-F263-F383-8D8A-7FFC14CBEBEC}"/>
              </a:ext>
            </a:extLst>
          </p:cNvPr>
          <p:cNvSpPr txBox="1"/>
          <p:nvPr/>
        </p:nvSpPr>
        <p:spPr>
          <a:xfrm>
            <a:off x="737419" y="1592826"/>
            <a:ext cx="78658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unrealistic deadlines? </a:t>
            </a:r>
          </a:p>
          <a:p>
            <a:r>
              <a:rPr lang="en-US" dirty="0"/>
              <a:t>seasonal spikes? </a:t>
            </a:r>
          </a:p>
          <a:p>
            <a:r>
              <a:rPr lang="en-US" dirty="0"/>
              <a:t>unpredictable order batching? </a:t>
            </a:r>
          </a:p>
          <a:p>
            <a:endParaRPr lang="en-US" dirty="0"/>
          </a:p>
          <a:p>
            <a:r>
              <a:rPr lang="en-US" dirty="0"/>
              <a:t>Maybe transportation clients suddenly place massive urgent orders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1AF40-9553-B590-97BC-EEF38761F6A6}"/>
              </a:ext>
            </a:extLst>
          </p:cNvPr>
          <p:cNvSpPr txBox="1"/>
          <p:nvPr/>
        </p:nvSpPr>
        <p:spPr>
          <a:xfrm>
            <a:off x="825910" y="3864077"/>
            <a:ext cx="57420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demand smoothing contracts</a:t>
            </a:r>
          </a:p>
          <a:p>
            <a:r>
              <a:rPr lang="en-US" dirty="0"/>
              <a:t>Incentivize predictable ordering.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6292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1038</Words>
  <Application>Microsoft Office PowerPoint</Application>
  <PresentationFormat>Widescreen</PresentationFormat>
  <Paragraphs>216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Algerian</vt:lpstr>
      <vt:lpstr>Aptos</vt:lpstr>
      <vt:lpstr>Aptos Display</vt:lpstr>
      <vt:lpstr>Aptos Slab Black</vt:lpstr>
      <vt:lpstr>Arial</vt:lpstr>
      <vt:lpstr>Broadway</vt:lpstr>
      <vt:lpstr>Congenial Black</vt:lpstr>
      <vt:lpstr>Office Theme</vt:lpstr>
      <vt:lpstr>SOLARSIS</vt:lpstr>
      <vt:lpstr>TASK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PRIORITY MAP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Subarna Mallick</dc:creator>
  <cp:lastModifiedBy>Subarna Mallick</cp:lastModifiedBy>
  <cp:revision>1</cp:revision>
  <dcterms:created xsi:type="dcterms:W3CDTF">2026-04-12T09:54:12Z</dcterms:created>
  <dcterms:modified xsi:type="dcterms:W3CDTF">2026-05-17T16:25:46Z</dcterms:modified>
</cp:coreProperties>
</file>